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Calibri (MS) Bold" charset="1" panose="020F0702030404030204"/>
      <p:regular r:id="rId32"/>
    </p:embeddedFont>
    <p:embeddedFont>
      <p:font typeface="Calibri (MS) Bold Italics" charset="1" panose="020F07020304040A0204"/>
      <p:regular r:id="rId33"/>
    </p:embeddedFont>
    <p:embeddedFont>
      <p:font typeface="Arial Bold" charset="1" panose="020B0704020202020204"/>
      <p:regular r:id="rId35"/>
    </p:embeddedFont>
    <p:embeddedFont>
      <p:font typeface="Canva Sans Bold" charset="1" panose="020B0803030501040103"/>
      <p:regular r:id="rId36"/>
    </p:embeddedFont>
    <p:embeddedFont>
      <p:font typeface="Arial" charset="1" panose="020B0604020202020204"/>
      <p:regular r:id="rId38"/>
    </p:embeddedFont>
    <p:embeddedFont>
      <p:font typeface="Times New Roman" charset="1" panose="020206030504050203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notesSlides/notesSlide2.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3.xml" Type="http://schemas.openxmlformats.org/officeDocument/2006/relationships/notesSlide"/><Relationship Id="rId38" Target="fonts/font38.fntdata" Type="http://schemas.openxmlformats.org/officeDocument/2006/relationships/font"/><Relationship Id="rId39" Target="notesSlides/notesSlide4.xml" Type="http://schemas.openxmlformats.org/officeDocument/2006/relationships/notesSlide"/><Relationship Id="rId4" Target="theme/theme1.xml" Type="http://schemas.openxmlformats.org/officeDocument/2006/relationships/theme"/><Relationship Id="rId40" Target="notesSlides/notesSlide5.xml" Type="http://schemas.openxmlformats.org/officeDocument/2006/relationships/notesSlide"/><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fonts/font48.fntdata" Type="http://schemas.openxmlformats.org/officeDocument/2006/relationships/font"/><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https://github.com/Advait-Karanjkar/AI-Travel-Planner.git"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775" y="2564606"/>
            <a:ext cx="15773400" cy="4279106"/>
            <a:chOff x="0" y="0"/>
            <a:chExt cx="21031200" cy="5705475"/>
          </a:xfrm>
        </p:grpSpPr>
        <p:sp>
          <p:nvSpPr>
            <p:cNvPr name="Freeform 3" id="3"/>
            <p:cNvSpPr/>
            <p:nvPr/>
          </p:nvSpPr>
          <p:spPr>
            <a:xfrm flipH="false" flipV="false" rot="0">
              <a:off x="0" y="0"/>
              <a:ext cx="21031200" cy="5705474"/>
            </a:xfrm>
            <a:custGeom>
              <a:avLst/>
              <a:gdLst/>
              <a:ahLst/>
              <a:cxnLst/>
              <a:rect r="r" b="b" t="t" l="l"/>
              <a:pathLst>
                <a:path h="5705474" w="21031200">
                  <a:moveTo>
                    <a:pt x="0" y="0"/>
                  </a:moveTo>
                  <a:lnTo>
                    <a:pt x="21031200" y="0"/>
                  </a:lnTo>
                  <a:lnTo>
                    <a:pt x="21031200" y="5705474"/>
                  </a:lnTo>
                  <a:lnTo>
                    <a:pt x="0" y="5705474"/>
                  </a:lnTo>
                  <a:close/>
                </a:path>
              </a:pathLst>
            </a:custGeom>
            <a:blipFill>
              <a:blip r:embed="rId3">
                <a:alphaModFix amt="0"/>
              </a:blip>
              <a:stretch>
                <a:fillRect l="0" t="-21824" r="0" b="-21824"/>
              </a:stretch>
            </a:blipFill>
          </p:spPr>
        </p:sp>
        <p:sp>
          <p:nvSpPr>
            <p:cNvPr name="TextBox 4" id="4"/>
            <p:cNvSpPr txBox="true"/>
            <p:nvPr/>
          </p:nvSpPr>
          <p:spPr>
            <a:xfrm>
              <a:off x="0" y="-95250"/>
              <a:ext cx="21031200" cy="5800725"/>
            </a:xfrm>
            <a:prstGeom prst="rect">
              <a:avLst/>
            </a:prstGeom>
          </p:spPr>
          <p:txBody>
            <a:bodyPr anchor="b" rtlCol="false" tIns="0" lIns="0" bIns="0" rIns="0"/>
            <a:lstStyle/>
            <a:p>
              <a:pPr algn="ctr">
                <a:lnSpc>
                  <a:spcPts val="10692"/>
                </a:lnSpc>
              </a:pPr>
              <a:r>
                <a:rPr lang="en-US" b="true" sz="9900">
                  <a:solidFill>
                    <a:srgbClr val="000000"/>
                  </a:solidFill>
                  <a:latin typeface="Calibri (MS) Bold"/>
                  <a:ea typeface="Calibri (MS) Bold"/>
                  <a:cs typeface="Calibri (MS) Bold"/>
                  <a:sym typeface="Calibri (MS) Bold"/>
                </a:rPr>
                <a:t>IBM University Engagement Project Submission</a:t>
              </a:r>
            </a:p>
            <a:p>
              <a:pPr algn="ctr">
                <a:lnSpc>
                  <a:spcPts val="10692"/>
                </a:lnSpc>
              </a:pPr>
            </a:p>
          </p:txBody>
        </p:sp>
      </p:grpSp>
      <p:sp>
        <p:nvSpPr>
          <p:cNvPr name="TextBox 5" id="5"/>
          <p:cNvSpPr txBox="true"/>
          <p:nvPr/>
        </p:nvSpPr>
        <p:spPr>
          <a:xfrm rot="0">
            <a:off x="1613516" y="5882145"/>
            <a:ext cx="15590549" cy="2177929"/>
          </a:xfrm>
          <a:prstGeom prst="rect">
            <a:avLst/>
          </a:prstGeom>
        </p:spPr>
        <p:txBody>
          <a:bodyPr anchor="t" rtlCol="false" tIns="0" lIns="0" bIns="0" rIns="0">
            <a:spAutoFit/>
          </a:bodyPr>
          <a:lstStyle/>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“Exploring the Power of Agentic AI with IBM Granite and LangFlow”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59115" y="2017354"/>
            <a:ext cx="3946476" cy="4615370"/>
          </a:xfrm>
          <a:custGeom>
            <a:avLst/>
            <a:gdLst/>
            <a:ahLst/>
            <a:cxnLst/>
            <a:rect r="r" b="b" t="t" l="l"/>
            <a:pathLst>
              <a:path h="4615370" w="3946476">
                <a:moveTo>
                  <a:pt x="0" y="0"/>
                </a:moveTo>
                <a:lnTo>
                  <a:pt x="3946476" y="0"/>
                </a:lnTo>
                <a:lnTo>
                  <a:pt x="3946476" y="4615370"/>
                </a:lnTo>
                <a:lnTo>
                  <a:pt x="0" y="4615370"/>
                </a:lnTo>
                <a:lnTo>
                  <a:pt x="0" y="0"/>
                </a:lnTo>
                <a:close/>
              </a:path>
            </a:pathLst>
          </a:custGeom>
          <a:blipFill>
            <a:blip r:embed="rId3"/>
            <a:stretch>
              <a:fillRect l="0" t="0" r="0" b="0"/>
            </a:stretch>
          </a:blipFill>
        </p:spPr>
      </p:sp>
      <p:sp>
        <p:nvSpPr>
          <p:cNvPr name="TextBox 3" id="3"/>
          <p:cNvSpPr txBox="true"/>
          <p:nvPr/>
        </p:nvSpPr>
        <p:spPr>
          <a:xfrm rot="0">
            <a:off x="2895103" y="3277289"/>
            <a:ext cx="10575521" cy="1047750"/>
          </a:xfrm>
          <a:prstGeom prst="rect">
            <a:avLst/>
          </a:prstGeom>
        </p:spPr>
        <p:txBody>
          <a:bodyPr anchor="t" rtlCol="false" tIns="0" lIns="0" bIns="0" rIns="0">
            <a:spAutoFit/>
          </a:bodyPr>
          <a:lstStyle/>
          <a:p>
            <a:pPr algn="l">
              <a:lnSpc>
                <a:spcPts val="4080"/>
              </a:lnSpc>
            </a:pPr>
            <a:r>
              <a:rPr lang="en-US" b="true" sz="3400">
                <a:solidFill>
                  <a:srgbClr val="000000"/>
                </a:solidFill>
                <a:latin typeface="Arial Bold"/>
                <a:ea typeface="Arial Bold"/>
                <a:cs typeface="Arial Bold"/>
                <a:sym typeface="Arial Bold"/>
              </a:rPr>
              <a:t>Domain of  Project –</a:t>
            </a:r>
          </a:p>
          <a:p>
            <a:pPr algn="l">
              <a:lnSpc>
                <a:spcPts val="4080"/>
              </a:lnSpc>
            </a:pPr>
            <a:r>
              <a:rPr lang="en-US" b="true" sz="3400">
                <a:solidFill>
                  <a:srgbClr val="000000"/>
                </a:solidFill>
                <a:latin typeface="Arial Bold"/>
                <a:ea typeface="Arial Bold"/>
                <a:cs typeface="Arial Bold"/>
                <a:sym typeface="Arial Bold"/>
              </a:rPr>
              <a:t>ARTIFICIAL INTELLIGENCE</a:t>
            </a:r>
          </a:p>
        </p:txBody>
      </p:sp>
      <p:sp>
        <p:nvSpPr>
          <p:cNvPr name="TextBox 4" id="4"/>
          <p:cNvSpPr txBox="true"/>
          <p:nvPr/>
        </p:nvSpPr>
        <p:spPr>
          <a:xfrm rot="0">
            <a:off x="2895103" y="1994582"/>
            <a:ext cx="10837251" cy="1301757"/>
          </a:xfrm>
          <a:prstGeom prst="rect">
            <a:avLst/>
          </a:prstGeom>
        </p:spPr>
        <p:txBody>
          <a:bodyPr anchor="t" rtlCol="false" tIns="0" lIns="0" bIns="0" rIns="0">
            <a:spAutoFit/>
          </a:bodyPr>
          <a:lstStyle/>
          <a:p>
            <a:pPr algn="l">
              <a:lnSpc>
                <a:spcPts val="5130"/>
              </a:lnSpc>
            </a:pPr>
            <a:r>
              <a:rPr lang="en-US" b="true" sz="4275">
                <a:solidFill>
                  <a:srgbClr val="000000"/>
                </a:solidFill>
                <a:latin typeface="Arial Bold"/>
                <a:ea typeface="Arial Bold"/>
                <a:cs typeface="Arial Bold"/>
                <a:sym typeface="Arial Bold"/>
              </a:rPr>
              <a:t>Project Title –</a:t>
            </a:r>
          </a:p>
          <a:p>
            <a:pPr algn="l">
              <a:lnSpc>
                <a:spcPts val="5130"/>
              </a:lnSpc>
            </a:pPr>
            <a:r>
              <a:rPr lang="en-US" b="true" sz="4275">
                <a:solidFill>
                  <a:srgbClr val="000000"/>
                </a:solidFill>
                <a:latin typeface="Arial Bold"/>
                <a:ea typeface="Arial Bold"/>
                <a:cs typeface="Arial Bold"/>
                <a:sym typeface="Arial Bold"/>
              </a:rPr>
              <a:t>TRAVEL PLANNER AGENT </a:t>
            </a:r>
          </a:p>
        </p:txBody>
      </p:sp>
      <p:sp>
        <p:nvSpPr>
          <p:cNvPr name="TextBox 5" id="5"/>
          <p:cNvSpPr txBox="true"/>
          <p:nvPr/>
        </p:nvSpPr>
        <p:spPr>
          <a:xfrm rot="0">
            <a:off x="2895103" y="5095875"/>
            <a:ext cx="7619425" cy="2460314"/>
          </a:xfrm>
          <a:prstGeom prst="rect">
            <a:avLst/>
          </a:prstGeom>
        </p:spPr>
        <p:txBody>
          <a:bodyPr anchor="t" rtlCol="false" tIns="0" lIns="0" bIns="0" rIns="0">
            <a:spAutoFit/>
          </a:bodyPr>
          <a:lstStyle/>
          <a:p>
            <a:pPr algn="l">
              <a:lnSpc>
                <a:spcPts val="3984"/>
              </a:lnSpc>
            </a:pPr>
            <a:r>
              <a:rPr lang="en-US" sz="2846" b="true">
                <a:solidFill>
                  <a:srgbClr val="000000"/>
                </a:solidFill>
                <a:latin typeface="Canva Sans Bold"/>
                <a:ea typeface="Canva Sans Bold"/>
                <a:cs typeface="Canva Sans Bold"/>
                <a:sym typeface="Canva Sans Bold"/>
              </a:rPr>
              <a:t>Name: Advait Karanjkar</a:t>
            </a:r>
          </a:p>
          <a:p>
            <a:pPr algn="l">
              <a:lnSpc>
                <a:spcPts val="3984"/>
              </a:lnSpc>
            </a:pPr>
            <a:r>
              <a:rPr lang="en-US" sz="2846" b="true">
                <a:solidFill>
                  <a:srgbClr val="000000"/>
                </a:solidFill>
                <a:latin typeface="Canva Sans Bold"/>
                <a:ea typeface="Canva Sans Bold"/>
                <a:cs typeface="Canva Sans Bold"/>
                <a:sym typeface="Canva Sans Bold"/>
              </a:rPr>
              <a:t>Email: advaitkaranjkar1486@gmail.com</a:t>
            </a:r>
          </a:p>
          <a:p>
            <a:pPr algn="l">
              <a:lnSpc>
                <a:spcPts val="3984"/>
              </a:lnSpc>
            </a:pPr>
            <a:r>
              <a:rPr lang="en-US" sz="2846" b="true">
                <a:solidFill>
                  <a:srgbClr val="000000"/>
                </a:solidFill>
                <a:latin typeface="Canva Sans Bold"/>
                <a:ea typeface="Canva Sans Bold"/>
                <a:cs typeface="Canva Sans Bold"/>
                <a:sym typeface="Canva Sans Bold"/>
              </a:rPr>
              <a:t>Mobile: 7498458093</a:t>
            </a:r>
          </a:p>
          <a:p>
            <a:pPr algn="l">
              <a:lnSpc>
                <a:spcPts val="3984"/>
              </a:lnSpc>
            </a:pPr>
            <a:r>
              <a:rPr lang="en-US" sz="2846" b="true">
                <a:solidFill>
                  <a:srgbClr val="000000"/>
                </a:solidFill>
                <a:latin typeface="Canva Sans Bold"/>
                <a:ea typeface="Canva Sans Bold"/>
                <a:cs typeface="Canva Sans Bold"/>
                <a:sym typeface="Canva Sans Bold"/>
              </a:rPr>
              <a:t>College: MIT Academy of Engineering, Pune</a:t>
            </a:r>
          </a:p>
          <a:p>
            <a:pPr algn="l">
              <a:lnSpc>
                <a:spcPts val="3984"/>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55529" y="1082783"/>
            <a:ext cx="10639073"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Problem Statement -</a:t>
            </a:r>
          </a:p>
        </p:txBody>
      </p:sp>
      <p:sp>
        <p:nvSpPr>
          <p:cNvPr name="TextBox 3" id="3"/>
          <p:cNvSpPr txBox="true"/>
          <p:nvPr/>
        </p:nvSpPr>
        <p:spPr>
          <a:xfrm rot="0">
            <a:off x="955529" y="1840791"/>
            <a:ext cx="11571923" cy="3521075"/>
          </a:xfrm>
          <a:prstGeom prst="rect">
            <a:avLst/>
          </a:prstGeom>
        </p:spPr>
        <p:txBody>
          <a:bodyPr anchor="t" rtlCol="false" tIns="0" lIns="0" bIns="0" rIns="0">
            <a:spAutoFit/>
          </a:bodyPr>
          <a:lstStyle/>
          <a:p>
            <a:pPr algn="just">
              <a:lnSpc>
                <a:spcPts val="2800"/>
              </a:lnSpc>
            </a:pPr>
            <a:r>
              <a:rPr lang="en-US" sz="2000">
                <a:solidFill>
                  <a:srgbClr val="000000"/>
                </a:solidFill>
                <a:latin typeface="Arial"/>
                <a:ea typeface="Arial"/>
                <a:cs typeface="Arial"/>
                <a:sym typeface="Arial"/>
              </a:rPr>
              <a:t>Problem Statement No.5- Travel Planner Agent</a:t>
            </a:r>
          </a:p>
          <a:p>
            <a:pPr algn="just">
              <a:lnSpc>
                <a:spcPts val="2800"/>
              </a:lnSpc>
            </a:pPr>
            <a:r>
              <a:rPr lang="en-US" sz="2000">
                <a:solidFill>
                  <a:srgbClr val="000000"/>
                </a:solidFill>
                <a:latin typeface="Arial"/>
                <a:ea typeface="Arial"/>
                <a:cs typeface="Arial"/>
                <a:sym typeface="Arial"/>
              </a:rPr>
              <a:t>The Challenge - A Travel Planner Agent is an </a:t>
            </a:r>
            <a:r>
              <a:rPr lang="en-US" sz="2000">
                <a:solidFill>
                  <a:srgbClr val="000000"/>
                </a:solidFill>
                <a:latin typeface="Arial"/>
                <a:ea typeface="Arial"/>
                <a:cs typeface="Arial"/>
                <a:sym typeface="Arial"/>
              </a:rPr>
              <a:t>AI-powered assistant that helps users plan trips efficiently</a:t>
            </a:r>
          </a:p>
          <a:p>
            <a:pPr algn="just">
              <a:lnSpc>
                <a:spcPts val="2800"/>
              </a:lnSpc>
            </a:pPr>
            <a:r>
              <a:rPr lang="en-US" sz="2000">
                <a:solidFill>
                  <a:srgbClr val="000000"/>
                </a:solidFill>
                <a:latin typeface="Arial"/>
                <a:ea typeface="Arial"/>
                <a:cs typeface="Arial"/>
                <a:sym typeface="Arial"/>
              </a:rPr>
              <a:t>and intelligently.</a:t>
            </a:r>
          </a:p>
          <a:p>
            <a:pPr algn="just">
              <a:lnSpc>
                <a:spcPts val="2800"/>
              </a:lnSpc>
            </a:pPr>
            <a:r>
              <a:rPr lang="en-US" sz="2000">
                <a:solidFill>
                  <a:srgbClr val="000000"/>
                </a:solidFill>
                <a:latin typeface="Arial"/>
                <a:ea typeface="Arial"/>
                <a:cs typeface="Arial"/>
                <a:sym typeface="Arial"/>
              </a:rPr>
              <a:t>It uses real-time data to suggest destinations, build itineraries, and recommend transport and</a:t>
            </a:r>
          </a:p>
          <a:p>
            <a:pPr algn="just">
              <a:lnSpc>
                <a:spcPts val="2800"/>
              </a:lnSpc>
            </a:pPr>
            <a:r>
              <a:rPr lang="en-US" sz="2000">
                <a:solidFill>
                  <a:srgbClr val="000000"/>
                </a:solidFill>
                <a:latin typeface="Arial"/>
                <a:ea typeface="Arial"/>
                <a:cs typeface="Arial"/>
                <a:sym typeface="Arial"/>
              </a:rPr>
              <a:t>accommodation options.</a:t>
            </a:r>
          </a:p>
          <a:p>
            <a:pPr algn="just">
              <a:lnSpc>
                <a:spcPts val="2800"/>
              </a:lnSpc>
            </a:pPr>
            <a:r>
              <a:rPr lang="en-US" sz="2000">
                <a:solidFill>
                  <a:srgbClr val="000000"/>
                </a:solidFill>
                <a:latin typeface="Arial"/>
                <a:ea typeface="Arial"/>
                <a:cs typeface="Arial"/>
                <a:sym typeface="Arial"/>
              </a:rPr>
              <a:t>By understanding user preferences, budgets, and constraints, it tailors personalized travel plans.</a:t>
            </a:r>
          </a:p>
          <a:p>
            <a:pPr algn="just">
              <a:lnSpc>
                <a:spcPts val="2800"/>
              </a:lnSpc>
            </a:pPr>
            <a:r>
              <a:rPr lang="en-US" sz="2000">
                <a:solidFill>
                  <a:srgbClr val="000000"/>
                </a:solidFill>
                <a:latin typeface="Arial"/>
                <a:ea typeface="Arial"/>
                <a:cs typeface="Arial"/>
                <a:sym typeface="Arial"/>
              </a:rPr>
              <a:t>Integrated with maps, weather updates, and local guides, it ensures a smooth travel experience.</a:t>
            </a:r>
          </a:p>
          <a:p>
            <a:pPr algn="just">
              <a:lnSpc>
                <a:spcPts val="2800"/>
              </a:lnSpc>
            </a:pPr>
            <a:r>
              <a:rPr lang="en-US" sz="2000">
                <a:solidFill>
                  <a:srgbClr val="000000"/>
                </a:solidFill>
                <a:latin typeface="Arial"/>
                <a:ea typeface="Arial"/>
                <a:cs typeface="Arial"/>
                <a:sym typeface="Arial"/>
              </a:rPr>
              <a:t>The agent can also manage bookings, alert users to changes, and optimize schedules on the go.</a:t>
            </a:r>
          </a:p>
          <a:p>
            <a:pPr algn="just">
              <a:lnSpc>
                <a:spcPts val="2800"/>
              </a:lnSpc>
            </a:pPr>
            <a:r>
              <a:rPr lang="en-US" sz="2000">
                <a:solidFill>
                  <a:srgbClr val="000000"/>
                </a:solidFill>
                <a:latin typeface="Arial"/>
                <a:ea typeface="Arial"/>
                <a:cs typeface="Arial"/>
                <a:sym typeface="Arial"/>
              </a:rPr>
              <a:t>This smart assistant transforms complex travel planning into a seamless, enjoyable process.</a:t>
            </a:r>
          </a:p>
          <a:p>
            <a:pPr algn="just">
              <a:lnSpc>
                <a:spcPts val="2800"/>
              </a:lnSpc>
            </a:pPr>
            <a:r>
              <a:rPr lang="en-US" sz="2000">
                <a:solidFill>
                  <a:srgbClr val="000000"/>
                </a:solidFill>
                <a:latin typeface="Arial"/>
                <a:ea typeface="Arial"/>
                <a:cs typeface="Arial"/>
                <a:sym typeface="Arial"/>
              </a:rPr>
              <a:t>Technology - Use of IBM cloud lite services /IBM Granite is mandatory.</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74630" y="1789157"/>
            <a:ext cx="15727709" cy="6105525"/>
          </a:xfrm>
          <a:prstGeom prst="rect">
            <a:avLst/>
          </a:prstGeom>
        </p:spPr>
        <p:txBody>
          <a:bodyPr anchor="t" rtlCol="false" tIns="0" lIns="0" bIns="0" rIns="0">
            <a:spAutoFit/>
          </a:bodyPr>
          <a:lstStyle/>
          <a:p>
            <a:pPr algn="just">
              <a:lnSpc>
                <a:spcPts val="2400"/>
              </a:lnSpc>
            </a:pPr>
            <a:r>
              <a:rPr lang="en-US" sz="2000">
                <a:solidFill>
                  <a:srgbClr val="000000"/>
                </a:solidFill>
                <a:latin typeface="Arial"/>
                <a:ea typeface="Arial"/>
                <a:cs typeface="Arial"/>
                <a:sym typeface="Arial"/>
              </a:rPr>
              <a:t>The proposed solution is an AI-powered Travel Planner Agent developed using Python Flask and IBM watsonx.ai Granite models on IBM Cloud. The system provides users with personalized travel planning by collecting preferences such as destination, budget, travel dates, number of travelers, and travel style.</a:t>
            </a:r>
          </a:p>
          <a:p>
            <a:pPr algn="just">
              <a:lnSpc>
                <a:spcPts val="2400"/>
              </a:lnSpc>
            </a:pPr>
            <a:r>
              <a:rPr lang="en-US" sz="2000">
                <a:solidFill>
                  <a:srgbClr val="000000"/>
                </a:solidFill>
                <a:latin typeface="Arial"/>
                <a:ea typeface="Arial"/>
                <a:cs typeface="Arial"/>
                <a:sym typeface="Arial"/>
              </a:rPr>
              <a:t>The Travel Planner Agent uses Generative AI to generate intelligent day-wise itineraries, recommend tourist attractions, hotels, restaurants, and transportation options, and provide estimated travel budgets. It also offers destination-specific travel tips, weather information, packing checklists, and safety guidelines to help users make informed travel decisions.</a:t>
            </a:r>
          </a:p>
          <a:p>
            <a:pPr algn="just">
              <a:lnSpc>
                <a:spcPts val="2400"/>
              </a:lnSpc>
            </a:pPr>
            <a:r>
              <a:rPr lang="en-US" sz="2000">
                <a:solidFill>
                  <a:srgbClr val="000000"/>
                </a:solidFill>
                <a:latin typeface="Arial"/>
                <a:ea typeface="Arial"/>
                <a:cs typeface="Arial"/>
                <a:sym typeface="Arial"/>
              </a:rPr>
              <a:t>The application features a responsive web interface where users can interact with the AI assistant through a conversational chat interface. By leveraging IBM Granite foundation models, the agent understands natural language queries and generates context-aware travel recommendations in real time.</a:t>
            </a:r>
          </a:p>
          <a:p>
            <a:pPr algn="just">
              <a:lnSpc>
                <a:spcPts val="2400"/>
              </a:lnSpc>
            </a:pPr>
            <a:r>
              <a:rPr lang="en-US" sz="2000">
                <a:solidFill>
                  <a:srgbClr val="000000"/>
                </a:solidFill>
                <a:latin typeface="Arial"/>
                <a:ea typeface="Arial"/>
                <a:cs typeface="Arial"/>
                <a:sym typeface="Arial"/>
              </a:rPr>
              <a:t>Key Features</a:t>
            </a:r>
          </a:p>
          <a:p>
            <a:pPr algn="just" marL="431801" indent="-215900" lvl="1">
              <a:lnSpc>
                <a:spcPts val="2400"/>
              </a:lnSpc>
              <a:buFont typeface="Arial"/>
              <a:buChar char="•"/>
            </a:pPr>
            <a:r>
              <a:rPr lang="en-US" sz="2000">
                <a:solidFill>
                  <a:srgbClr val="000000"/>
                </a:solidFill>
                <a:latin typeface="Arial"/>
                <a:ea typeface="Arial"/>
                <a:cs typeface="Arial"/>
                <a:sym typeface="Arial"/>
              </a:rPr>
              <a:t>AI-powered personalized travel itinerary generation</a:t>
            </a:r>
          </a:p>
          <a:p>
            <a:pPr algn="just" marL="431801" indent="-215900" lvl="1">
              <a:lnSpc>
                <a:spcPts val="2400"/>
              </a:lnSpc>
              <a:buFont typeface="Arial"/>
              <a:buChar char="•"/>
            </a:pPr>
            <a:r>
              <a:rPr lang="en-US" sz="2000">
                <a:solidFill>
                  <a:srgbClr val="000000"/>
                </a:solidFill>
                <a:latin typeface="Arial"/>
                <a:ea typeface="Arial"/>
                <a:cs typeface="Arial"/>
                <a:sym typeface="Arial"/>
              </a:rPr>
              <a:t>Destination recommendations based on user preferences</a:t>
            </a:r>
          </a:p>
          <a:p>
            <a:pPr algn="just" marL="431801" indent="-215900" lvl="1">
              <a:lnSpc>
                <a:spcPts val="2400"/>
              </a:lnSpc>
              <a:buFont typeface="Arial"/>
              <a:buChar char="•"/>
            </a:pPr>
            <a:r>
              <a:rPr lang="en-US" sz="2000">
                <a:solidFill>
                  <a:srgbClr val="000000"/>
                </a:solidFill>
                <a:latin typeface="Arial"/>
                <a:ea typeface="Arial"/>
                <a:cs typeface="Arial"/>
                <a:sym typeface="Arial"/>
              </a:rPr>
              <a:t>Budget estimation and expense breakdown</a:t>
            </a:r>
          </a:p>
          <a:p>
            <a:pPr algn="just" marL="431801" indent="-215900" lvl="1">
              <a:lnSpc>
                <a:spcPts val="2400"/>
              </a:lnSpc>
              <a:buFont typeface="Arial"/>
              <a:buChar char="•"/>
            </a:pPr>
            <a:r>
              <a:rPr lang="en-US" sz="2000">
                <a:solidFill>
                  <a:srgbClr val="000000"/>
                </a:solidFill>
                <a:latin typeface="Arial"/>
                <a:ea typeface="Arial"/>
                <a:cs typeface="Arial"/>
                <a:sym typeface="Arial"/>
              </a:rPr>
              <a:t>Hotel, restaurant, and transport suggestions</a:t>
            </a:r>
          </a:p>
          <a:p>
            <a:pPr algn="just" marL="431801" indent="-215900" lvl="1">
              <a:lnSpc>
                <a:spcPts val="2400"/>
              </a:lnSpc>
              <a:buFont typeface="Arial"/>
              <a:buChar char="•"/>
            </a:pPr>
            <a:r>
              <a:rPr lang="en-US" sz="2000">
                <a:solidFill>
                  <a:srgbClr val="000000"/>
                </a:solidFill>
                <a:latin typeface="Arial"/>
                <a:ea typeface="Arial"/>
                <a:cs typeface="Arial"/>
                <a:sym typeface="Arial"/>
              </a:rPr>
              <a:t>Weather-aware travel planning</a:t>
            </a:r>
          </a:p>
          <a:p>
            <a:pPr algn="just" marL="431801" indent="-215900" lvl="1">
              <a:lnSpc>
                <a:spcPts val="2400"/>
              </a:lnSpc>
              <a:buFont typeface="Arial"/>
              <a:buChar char="•"/>
            </a:pPr>
            <a:r>
              <a:rPr lang="en-US" sz="2000">
                <a:solidFill>
                  <a:srgbClr val="000000"/>
                </a:solidFill>
                <a:latin typeface="Arial"/>
                <a:ea typeface="Arial"/>
                <a:cs typeface="Arial"/>
                <a:sym typeface="Arial"/>
              </a:rPr>
              <a:t>Interactive AI chat assistant</a:t>
            </a:r>
          </a:p>
          <a:p>
            <a:pPr algn="just" marL="431801" indent="-215900" lvl="1">
              <a:lnSpc>
                <a:spcPts val="2400"/>
              </a:lnSpc>
              <a:buFont typeface="Arial"/>
              <a:buChar char="•"/>
            </a:pPr>
            <a:r>
              <a:rPr lang="en-US" sz="2000">
                <a:solidFill>
                  <a:srgbClr val="000000"/>
                </a:solidFill>
                <a:latin typeface="Arial"/>
                <a:ea typeface="Arial"/>
                <a:cs typeface="Arial"/>
                <a:sym typeface="Arial"/>
              </a:rPr>
              <a:t>Packing checklist and travel safety recommendations</a:t>
            </a:r>
          </a:p>
          <a:p>
            <a:pPr algn="just" marL="431801" indent="-215900" lvl="1">
              <a:lnSpc>
                <a:spcPts val="2400"/>
              </a:lnSpc>
              <a:buFont typeface="Arial"/>
              <a:buChar char="•"/>
            </a:pPr>
            <a:r>
              <a:rPr lang="en-US" sz="2000">
                <a:solidFill>
                  <a:srgbClr val="000000"/>
                </a:solidFill>
                <a:latin typeface="Arial"/>
                <a:ea typeface="Arial"/>
                <a:cs typeface="Arial"/>
                <a:sym typeface="Arial"/>
              </a:rPr>
              <a:t>Responsive web application built using Flask, HTML, CSS, Bootstrap, and JavaScript</a:t>
            </a:r>
          </a:p>
          <a:p>
            <a:pPr algn="just" marL="431801" indent="-215900" lvl="1">
              <a:lnSpc>
                <a:spcPts val="2400"/>
              </a:lnSpc>
              <a:buFont typeface="Arial"/>
              <a:buChar char="•"/>
            </a:pPr>
            <a:r>
              <a:rPr lang="en-US" sz="2000">
                <a:solidFill>
                  <a:srgbClr val="000000"/>
                </a:solidFill>
                <a:latin typeface="Arial"/>
                <a:ea typeface="Arial"/>
                <a:cs typeface="Arial"/>
                <a:sym typeface="Arial"/>
              </a:rPr>
              <a:t>Integration with IBM watsonx.ai Granite models on IBM Cloud</a:t>
            </a:r>
          </a:p>
          <a:p>
            <a:pPr algn="just">
              <a:lnSpc>
                <a:spcPts val="2400"/>
              </a:lnSpc>
            </a:pPr>
          </a:p>
        </p:txBody>
      </p:sp>
      <p:sp>
        <p:nvSpPr>
          <p:cNvPr name="TextBox 3" id="3"/>
          <p:cNvSpPr txBox="true"/>
          <p:nvPr/>
        </p:nvSpPr>
        <p:spPr>
          <a:xfrm rot="0">
            <a:off x="955529" y="1082783"/>
            <a:ext cx="10639073"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Proposed Solution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281" y="753599"/>
            <a:ext cx="10501913"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Technology Used</a:t>
            </a:r>
          </a:p>
        </p:txBody>
      </p:sp>
      <p:sp>
        <p:nvSpPr>
          <p:cNvPr name="TextBox 3" id="3"/>
          <p:cNvSpPr txBox="true"/>
          <p:nvPr/>
        </p:nvSpPr>
        <p:spPr>
          <a:xfrm rot="0">
            <a:off x="1257281" y="1627814"/>
            <a:ext cx="15590549" cy="6410325"/>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000000"/>
                </a:solidFill>
                <a:latin typeface="Arial"/>
                <a:ea typeface="Arial"/>
                <a:cs typeface="Arial"/>
                <a:sym typeface="Arial"/>
              </a:rPr>
              <a:t>Python Flask – Used as the backend framework to develop the web application, manage user requests, and integrate the AI functionalities.</a:t>
            </a:r>
          </a:p>
          <a:p>
            <a:pPr algn="l">
              <a:lnSpc>
                <a:spcPts val="2400"/>
              </a:lnSpc>
            </a:pPr>
          </a:p>
          <a:p>
            <a:pPr algn="l" marL="361950" indent="-180975" lvl="1">
              <a:lnSpc>
                <a:spcPts val="2400"/>
              </a:lnSpc>
              <a:buFont typeface="Arial"/>
              <a:buChar char="•"/>
            </a:pPr>
            <a:r>
              <a:rPr lang="en-US" sz="2000">
                <a:solidFill>
                  <a:srgbClr val="000000"/>
                </a:solidFill>
                <a:latin typeface="Arial"/>
                <a:ea typeface="Arial"/>
                <a:cs typeface="Arial"/>
                <a:sym typeface="Arial"/>
              </a:rPr>
              <a:t>IBM Granite Model (Granite 4 H Small) – Used for natural language understanding, reasoning, and generating personalized travel itineraries, destination recommendations, and travel advice.</a:t>
            </a:r>
          </a:p>
          <a:p>
            <a:pPr algn="l">
              <a:lnSpc>
                <a:spcPts val="2400"/>
              </a:lnSpc>
            </a:pPr>
          </a:p>
          <a:p>
            <a:pPr algn="l" marL="361950" indent="-180975" lvl="1">
              <a:lnSpc>
                <a:spcPts val="2400"/>
              </a:lnSpc>
              <a:buFont typeface="Arial"/>
              <a:buChar char="•"/>
            </a:pPr>
            <a:r>
              <a:rPr lang="en-US" sz="2000">
                <a:solidFill>
                  <a:srgbClr val="000000"/>
                </a:solidFill>
                <a:latin typeface="Arial"/>
                <a:ea typeface="Arial"/>
                <a:cs typeface="Arial"/>
                <a:sym typeface="Arial"/>
              </a:rPr>
              <a:t>IBM watsonx.ai – Used for accessing and deploying IBM Granite foundation models, enabling AI-powered itinerary generation and conversational travel assistance.</a:t>
            </a:r>
          </a:p>
          <a:p>
            <a:pPr algn="l">
              <a:lnSpc>
                <a:spcPts val="2400"/>
              </a:lnSpc>
            </a:pPr>
          </a:p>
          <a:p>
            <a:pPr algn="l" marL="361950" indent="-180975" lvl="1">
              <a:lnSpc>
                <a:spcPts val="2400"/>
              </a:lnSpc>
              <a:buFont typeface="Arial"/>
              <a:buChar char="•"/>
            </a:pPr>
            <a:r>
              <a:rPr lang="en-US" sz="2000">
                <a:solidFill>
                  <a:srgbClr val="000000"/>
                </a:solidFill>
                <a:latin typeface="Arial"/>
                <a:ea typeface="Arial"/>
                <a:cs typeface="Arial"/>
                <a:sym typeface="Arial"/>
              </a:rPr>
              <a:t>IBM Cloud – Provides the cloud infrastructure for hosting, managing, and securely connecting the application with IBM watsonx.ai services.</a:t>
            </a:r>
          </a:p>
          <a:p>
            <a:pPr algn="l">
              <a:lnSpc>
                <a:spcPts val="2400"/>
              </a:lnSpc>
            </a:pPr>
          </a:p>
          <a:p>
            <a:pPr algn="l" marL="361950" indent="-180975" lvl="1">
              <a:lnSpc>
                <a:spcPts val="2400"/>
              </a:lnSpc>
              <a:buFont typeface="Arial"/>
              <a:buChar char="•"/>
            </a:pPr>
            <a:r>
              <a:rPr lang="en-US" sz="2000">
                <a:solidFill>
                  <a:srgbClr val="000000"/>
                </a:solidFill>
                <a:latin typeface="Arial"/>
                <a:ea typeface="Arial"/>
                <a:cs typeface="Arial"/>
                <a:sym typeface="Arial"/>
              </a:rPr>
              <a:t>HTML, CSS, Bootstrap &amp; JavaScript – Used to develop a modern, responsive, and interactive user interface with features like chat, travel dashboard, and itinerary display.</a:t>
            </a:r>
          </a:p>
          <a:p>
            <a:pPr algn="l">
              <a:lnSpc>
                <a:spcPts val="2400"/>
              </a:lnSpc>
            </a:pPr>
          </a:p>
          <a:p>
            <a:pPr algn="l" marL="361950" indent="-180975" lvl="1">
              <a:lnSpc>
                <a:spcPts val="2400"/>
              </a:lnSpc>
              <a:buFont typeface="Arial"/>
              <a:buChar char="•"/>
            </a:pPr>
            <a:r>
              <a:rPr lang="en-US" sz="2000">
                <a:solidFill>
                  <a:srgbClr val="000000"/>
                </a:solidFill>
                <a:latin typeface="Arial"/>
                <a:ea typeface="Arial"/>
                <a:cs typeface="Arial"/>
                <a:sym typeface="Arial"/>
              </a:rPr>
              <a:t>REST API Integration – Enables communication between the Flask backend and IBM watsonx.ai services to process user queries and generate AI-based travel recommendations.</a:t>
            </a:r>
          </a:p>
          <a:p>
            <a:pPr algn="l">
              <a:lnSpc>
                <a:spcPts val="2400"/>
              </a:lnSpc>
            </a:pPr>
          </a:p>
          <a:p>
            <a:pPr algn="l" marL="431801" indent="-215900" lvl="1">
              <a:lnSpc>
                <a:spcPts val="2400"/>
              </a:lnSpc>
              <a:buFont typeface="Arial"/>
              <a:buChar char="•"/>
            </a:pPr>
            <a:r>
              <a:rPr lang="en-US" sz="2000">
                <a:solidFill>
                  <a:srgbClr val="000000"/>
                </a:solidFill>
                <a:latin typeface="Arial"/>
                <a:ea typeface="Arial"/>
                <a:cs typeface="Arial"/>
                <a:sym typeface="Arial"/>
              </a:rPr>
              <a:t>Environment Variables (.env) – Used to securely store sensitive credentials such as IBM Cloud API Key, Project ID, and service URLs, ensuring secure application configuration.</a:t>
            </a:r>
          </a:p>
          <a:p>
            <a:pPr algn="l" marL="361950" indent="-180975" lvl="1">
              <a:lnSpc>
                <a:spcPts val="2400"/>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6386" y="465811"/>
            <a:ext cx="8863394"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Langflow</a:t>
            </a:r>
            <a:r>
              <a:rPr lang="en-US" b="true" sz="2799">
                <a:solidFill>
                  <a:srgbClr val="051D3A"/>
                </a:solidFill>
                <a:latin typeface="Arial Bold"/>
                <a:ea typeface="Arial Bold"/>
                <a:cs typeface="Arial Bold"/>
                <a:sym typeface="Arial Bold"/>
              </a:rPr>
              <a:t> </a:t>
            </a:r>
            <a:r>
              <a:rPr lang="en-US" b="true" sz="2799">
                <a:solidFill>
                  <a:srgbClr val="000000"/>
                </a:solidFill>
                <a:latin typeface="Arial Bold"/>
                <a:ea typeface="Arial Bold"/>
                <a:cs typeface="Arial Bold"/>
                <a:sym typeface="Arial Bold"/>
              </a:rPr>
              <a:t>component Used -</a:t>
            </a:r>
          </a:p>
        </p:txBody>
      </p:sp>
      <p:sp>
        <p:nvSpPr>
          <p:cNvPr name="TextBox 3" id="3"/>
          <p:cNvSpPr txBox="true"/>
          <p:nvPr/>
        </p:nvSpPr>
        <p:spPr>
          <a:xfrm rot="0">
            <a:off x="803662" y="1330957"/>
            <a:ext cx="13053089" cy="5495925"/>
          </a:xfrm>
          <a:prstGeom prst="rect">
            <a:avLst/>
          </a:prstGeom>
        </p:spPr>
        <p:txBody>
          <a:bodyPr anchor="t" rtlCol="false" tIns="0" lIns="0" bIns="0" rIns="0">
            <a:spAutoFit/>
          </a:bodyPr>
          <a:lstStyle/>
          <a:p>
            <a:pPr algn="l">
              <a:lnSpc>
                <a:spcPts val="2400"/>
              </a:lnSpc>
            </a:pPr>
            <a:r>
              <a:rPr lang="en-US" sz="2000">
                <a:solidFill>
                  <a:srgbClr val="000000"/>
                </a:solidFill>
                <a:latin typeface="Arial"/>
                <a:ea typeface="Arial"/>
                <a:cs typeface="Arial"/>
                <a:sym typeface="Arial"/>
              </a:rPr>
              <a:t>1) Chat Input – Interface where users enter travel details such as destination, travel dates, budget, number of travelers, and preferences through the web application.</a:t>
            </a:r>
          </a:p>
          <a:p>
            <a:pPr algn="l">
              <a:lnSpc>
                <a:spcPts val="2400"/>
              </a:lnSpc>
            </a:pPr>
          </a:p>
          <a:p>
            <a:pPr algn="l">
              <a:lnSpc>
                <a:spcPts val="2400"/>
              </a:lnSpc>
            </a:pPr>
            <a:r>
              <a:rPr lang="en-US" sz="2000">
                <a:solidFill>
                  <a:srgbClr val="000000"/>
                </a:solidFill>
                <a:latin typeface="Arial"/>
                <a:ea typeface="Arial"/>
                <a:cs typeface="Arial"/>
                <a:sym typeface="Arial"/>
              </a:rPr>
              <a:t>2) IBM watsonx AI Agent – Processes user queries using IBM Granite models and generates intelligent, personalized travel recommendations and itineraries.</a:t>
            </a:r>
          </a:p>
          <a:p>
            <a:pPr algn="l">
              <a:lnSpc>
                <a:spcPts val="2400"/>
              </a:lnSpc>
            </a:pPr>
          </a:p>
          <a:p>
            <a:pPr algn="l">
              <a:lnSpc>
                <a:spcPts val="2400"/>
              </a:lnSpc>
            </a:pPr>
            <a:r>
              <a:rPr lang="en-US" sz="2000">
                <a:solidFill>
                  <a:srgbClr val="000000"/>
                </a:solidFill>
                <a:latin typeface="Arial"/>
                <a:ea typeface="Arial"/>
                <a:cs typeface="Arial"/>
                <a:sym typeface="Arial"/>
              </a:rPr>
              <a:t>3) IBM Granite Model (Granite-4-H-Small) – Used for natural language understanding, reasoning, and generating personalized travel plans, destination suggestions, and travel guidance in real time.</a:t>
            </a:r>
          </a:p>
          <a:p>
            <a:pPr algn="l">
              <a:lnSpc>
                <a:spcPts val="2400"/>
              </a:lnSpc>
            </a:pPr>
          </a:p>
          <a:p>
            <a:pPr algn="l">
              <a:lnSpc>
                <a:spcPts val="2400"/>
              </a:lnSpc>
            </a:pPr>
            <a:r>
              <a:rPr lang="en-US" sz="2000">
                <a:solidFill>
                  <a:srgbClr val="000000"/>
                </a:solidFill>
                <a:latin typeface="Arial"/>
                <a:ea typeface="Arial"/>
                <a:cs typeface="Arial"/>
                <a:sym typeface="Arial"/>
              </a:rPr>
              <a:t>4) Chat Output – Displays AI-generated responses including day-wise travel itineraries, hotel recommendations, transport suggestions, estimated budgets, and travel tips.</a:t>
            </a:r>
          </a:p>
          <a:p>
            <a:pPr algn="l">
              <a:lnSpc>
                <a:spcPts val="2400"/>
              </a:lnSpc>
            </a:pPr>
          </a:p>
          <a:p>
            <a:pPr algn="l">
              <a:lnSpc>
                <a:spcPts val="2400"/>
              </a:lnSpc>
            </a:pPr>
            <a:r>
              <a:rPr lang="en-US" sz="2000">
                <a:solidFill>
                  <a:srgbClr val="000000"/>
                </a:solidFill>
                <a:latin typeface="Arial"/>
                <a:ea typeface="Arial"/>
                <a:cs typeface="Arial"/>
                <a:sym typeface="Arial"/>
              </a:rPr>
              <a:t>5) Prompt Template / Agent Instructions – Defines the AI agent's behavior, travel expertise, response style, safety guidelines, and recommendation rules to ensure accurate and travel-specific responses.</a:t>
            </a:r>
          </a:p>
          <a:p>
            <a:pPr algn="l">
              <a:lnSpc>
                <a:spcPts val="2400"/>
              </a:lnSpc>
            </a:pPr>
          </a:p>
          <a:p>
            <a:pPr algn="l">
              <a:lnSpc>
                <a:spcPts val="2400"/>
              </a:lnSpc>
            </a:pPr>
            <a:r>
              <a:rPr lang="en-US" sz="2000">
                <a:solidFill>
                  <a:srgbClr val="000000"/>
                </a:solidFill>
                <a:latin typeface="Arial"/>
                <a:ea typeface="Arial"/>
                <a:cs typeface="Arial"/>
                <a:sym typeface="Arial"/>
              </a:rPr>
              <a:t>6) Flask Backend &amp; REST API Integration – Handles communication between the web interface and IBM watsonx.ai services, processes user inputs, and returns AI-generated travel recommendations to the frontend.</a:t>
            </a:r>
          </a:p>
          <a:p>
            <a:pPr algn="l">
              <a:lnSpc>
                <a:spcPts val="24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6387" y="1417358"/>
            <a:ext cx="16441136" cy="7452283"/>
          </a:xfrm>
          <a:custGeom>
            <a:avLst/>
            <a:gdLst/>
            <a:ahLst/>
            <a:cxnLst/>
            <a:rect r="r" b="b" t="t" l="l"/>
            <a:pathLst>
              <a:path h="7452283" w="16441136">
                <a:moveTo>
                  <a:pt x="0" y="0"/>
                </a:moveTo>
                <a:lnTo>
                  <a:pt x="16441136" y="0"/>
                </a:lnTo>
                <a:lnTo>
                  <a:pt x="16441136" y="7452284"/>
                </a:lnTo>
                <a:lnTo>
                  <a:pt x="0" y="7452284"/>
                </a:lnTo>
                <a:lnTo>
                  <a:pt x="0" y="0"/>
                </a:lnTo>
                <a:close/>
              </a:path>
            </a:pathLst>
          </a:custGeom>
          <a:blipFill>
            <a:blip r:embed="rId3"/>
            <a:stretch>
              <a:fillRect l="0" t="-11826" r="0" b="0"/>
            </a:stretch>
          </a:blipFill>
        </p:spPr>
      </p:sp>
      <p:sp>
        <p:nvSpPr>
          <p:cNvPr name="TextBox 3" id="3"/>
          <p:cNvSpPr txBox="true"/>
          <p:nvPr/>
        </p:nvSpPr>
        <p:spPr>
          <a:xfrm rot="0">
            <a:off x="806386" y="456286"/>
            <a:ext cx="8863394" cy="70133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Langflow</a:t>
            </a:r>
            <a:r>
              <a:rPr lang="en-US" b="true" sz="3600">
                <a:solidFill>
                  <a:srgbClr val="051D3A"/>
                </a:solidFill>
                <a:latin typeface="Arial Bold"/>
                <a:ea typeface="Arial Bold"/>
                <a:cs typeface="Arial Bold"/>
                <a:sym typeface="Arial Bold"/>
              </a:rPr>
              <a:t> </a:t>
            </a:r>
            <a:r>
              <a:rPr lang="en-US" b="true" sz="3600">
                <a:solidFill>
                  <a:srgbClr val="000000"/>
                </a:solidFill>
                <a:latin typeface="Arial Bold"/>
                <a:ea typeface="Arial Bold"/>
                <a:cs typeface="Arial Bold"/>
                <a:sym typeface="Arial Bold"/>
              </a:rPr>
              <a:t>workflow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4000">
            <a:off x="1631480" y="1114001"/>
            <a:ext cx="14933547" cy="8918669"/>
          </a:xfrm>
          <a:custGeom>
            <a:avLst/>
            <a:gdLst/>
            <a:ahLst/>
            <a:cxnLst/>
            <a:rect r="r" b="b" t="t" l="l"/>
            <a:pathLst>
              <a:path h="8918669" w="14933547">
                <a:moveTo>
                  <a:pt x="61541" y="0"/>
                </a:moveTo>
                <a:lnTo>
                  <a:pt x="14933547" y="103828"/>
                </a:lnTo>
                <a:lnTo>
                  <a:pt x="14872007" y="8918669"/>
                </a:lnTo>
                <a:lnTo>
                  <a:pt x="0" y="8814841"/>
                </a:lnTo>
                <a:lnTo>
                  <a:pt x="61541" y="0"/>
                </a:lnTo>
                <a:close/>
              </a:path>
            </a:pathLst>
          </a:custGeom>
          <a:blipFill>
            <a:blip r:embed="rId3"/>
            <a:stretch>
              <a:fillRect l="-903" t="-11516" r="-1108" b="-2356"/>
            </a:stretch>
          </a:blipFill>
        </p:spPr>
      </p:sp>
      <p:sp>
        <p:nvSpPr>
          <p:cNvPr name="TextBox 3" id="3"/>
          <p:cNvSpPr txBox="true"/>
          <p:nvPr/>
        </p:nvSpPr>
        <p:spPr>
          <a:xfrm rot="0">
            <a:off x="806386" y="418186"/>
            <a:ext cx="8863394" cy="739435"/>
          </a:xfrm>
          <a:prstGeom prst="rect">
            <a:avLst/>
          </a:prstGeom>
        </p:spPr>
        <p:txBody>
          <a:bodyPr anchor="t" rtlCol="false" tIns="0" lIns="0" bIns="0" rIns="0">
            <a:spAutoFit/>
          </a:bodyPr>
          <a:lstStyle/>
          <a:p>
            <a:pPr algn="l">
              <a:lnSpc>
                <a:spcPts val="4320"/>
              </a:lnSpc>
            </a:pPr>
            <a:r>
              <a:rPr lang="en-US" b="true" sz="3600">
                <a:solidFill>
                  <a:srgbClr val="000000"/>
                </a:solidFill>
                <a:latin typeface="Calibri (MS) Bold"/>
                <a:ea typeface="Calibri (MS) Bold"/>
                <a:cs typeface="Calibri (MS) Bold"/>
                <a:sym typeface="Calibri (MS) Bold"/>
              </a:rPr>
              <a:t>Architecture blueprint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7979" y="1751238"/>
            <a:ext cx="4523013" cy="6784524"/>
            <a:chOff x="0" y="0"/>
            <a:chExt cx="6030684" cy="9046032"/>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3"/>
              <a:stretch>
                <a:fillRect l="0" t="0" r="0" b="0"/>
              </a:stretch>
            </a:blipFill>
          </p:spPr>
        </p:sp>
      </p:grpSp>
      <p:sp>
        <p:nvSpPr>
          <p:cNvPr name="TextBox 4" id="4"/>
          <p:cNvSpPr txBox="true"/>
          <p:nvPr/>
        </p:nvSpPr>
        <p:spPr>
          <a:xfrm rot="0">
            <a:off x="1028700" y="1732188"/>
            <a:ext cx="5688687"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1028700" y="2687149"/>
            <a:ext cx="10927109" cy="3667125"/>
          </a:xfrm>
          <a:prstGeom prst="rect">
            <a:avLst/>
          </a:prstGeom>
        </p:spPr>
        <p:txBody>
          <a:bodyPr anchor="t" rtlCol="false" tIns="0" lIns="0" bIns="0" rIns="0">
            <a:spAutoFit/>
          </a:bodyPr>
          <a:lstStyle/>
          <a:p>
            <a:pPr algn="l">
              <a:lnSpc>
                <a:spcPts val="2400"/>
              </a:lnSpc>
            </a:pPr>
          </a:p>
          <a:p>
            <a:pPr algn="l">
              <a:lnSpc>
                <a:spcPts val="2400"/>
              </a:lnSpc>
            </a:pPr>
            <a:r>
              <a:rPr lang="en-US" sz="2000">
                <a:solidFill>
                  <a:srgbClr val="000000"/>
                </a:solidFill>
                <a:latin typeface="Arial"/>
                <a:ea typeface="Arial"/>
                <a:cs typeface="Arial"/>
                <a:sym typeface="Arial"/>
              </a:rPr>
              <a:t>Agentic AI acts as the intelligent decision-making core of the AI Travel Planner Agent. It understands the user's travel preferences, budget, destination, duration, and interests, then autonomously analyzes the information to generate a personalized day-wise travel itinerary. Instead of simply answering questions, it plans, reasons, and recommends the most suitable travel options based on the user's requirements.</a:t>
            </a:r>
          </a:p>
          <a:p>
            <a:pPr algn="l">
              <a:lnSpc>
                <a:spcPts val="2400"/>
              </a:lnSpc>
            </a:pPr>
          </a:p>
          <a:p>
            <a:pPr algn="l">
              <a:lnSpc>
                <a:spcPts val="2400"/>
              </a:lnSpc>
            </a:pPr>
            <a:r>
              <a:rPr lang="en-US" sz="2000">
                <a:solidFill>
                  <a:srgbClr val="000000"/>
                </a:solidFill>
                <a:latin typeface="Arial"/>
                <a:ea typeface="Arial"/>
                <a:cs typeface="Arial"/>
                <a:sym typeface="Arial"/>
              </a:rPr>
              <a:t>The Agentic AI also provides hotel, restaurant, transportation, and sightseeing recommendations, along with estimated budgets, travel tips, and safety guidelines. By leveraging IBM watsonx.ai Granite models, it delivers context-aware, conversational, and adaptive responses, enabling users to interact naturally while receiving intelligent and personalized travel planning assistance.</a:t>
            </a:r>
          </a:p>
          <a:p>
            <a:pPr algn="l">
              <a:lnSpc>
                <a:spcPts val="24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50122" y="2989619"/>
            <a:ext cx="14787756" cy="3778620"/>
          </a:xfrm>
          <a:custGeom>
            <a:avLst/>
            <a:gdLst/>
            <a:ahLst/>
            <a:cxnLst/>
            <a:rect r="r" b="b" t="t" l="l"/>
            <a:pathLst>
              <a:path h="3778620" w="14787756">
                <a:moveTo>
                  <a:pt x="0" y="0"/>
                </a:moveTo>
                <a:lnTo>
                  <a:pt x="14787756" y="0"/>
                </a:lnTo>
                <a:lnTo>
                  <a:pt x="14787756" y="3778620"/>
                </a:lnTo>
                <a:lnTo>
                  <a:pt x="0" y="3778620"/>
                </a:lnTo>
                <a:lnTo>
                  <a:pt x="0" y="0"/>
                </a:lnTo>
                <a:close/>
              </a:path>
            </a:pathLst>
          </a:custGeom>
          <a:blipFill>
            <a:blip r:embed="rId3"/>
            <a:stretch>
              <a:fillRect l="0" t="0" r="0" b="0"/>
            </a:stretch>
          </a:blipFill>
        </p:spPr>
      </p:sp>
      <p:sp>
        <p:nvSpPr>
          <p:cNvPr name="TextBox 3" id="3"/>
          <p:cNvSpPr txBox="true"/>
          <p:nvPr/>
        </p:nvSpPr>
        <p:spPr>
          <a:xfrm rot="0">
            <a:off x="1189787" y="312315"/>
            <a:ext cx="9666742" cy="622939"/>
          </a:xfrm>
          <a:prstGeom prst="rect">
            <a:avLst/>
          </a:prstGeom>
        </p:spPr>
        <p:txBody>
          <a:bodyPr anchor="t" rtlCol="false" tIns="0" lIns="0" bIns="0" rIns="0">
            <a:spAutoFit/>
          </a:bodyPr>
          <a:lstStyle/>
          <a:p>
            <a:pPr algn="l">
              <a:lnSpc>
                <a:spcPts val="5279"/>
              </a:lnSpc>
            </a:pPr>
            <a:r>
              <a:rPr lang="en-US" b="true" sz="2799">
                <a:solidFill>
                  <a:srgbClr val="000000"/>
                </a:solidFill>
                <a:latin typeface="Arial Bold"/>
                <a:ea typeface="Arial Bold"/>
                <a:cs typeface="Arial Bold"/>
                <a:sym typeface="Arial Bold"/>
              </a:rPr>
              <a:t>Token Usage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9823233" cy="4383618"/>
          </a:xfrm>
          <a:custGeom>
            <a:avLst/>
            <a:gdLst/>
            <a:ahLst/>
            <a:cxnLst/>
            <a:rect r="r" b="b" t="t" l="l"/>
            <a:pathLst>
              <a:path h="4383618" w="9823233">
                <a:moveTo>
                  <a:pt x="0" y="0"/>
                </a:moveTo>
                <a:lnTo>
                  <a:pt x="9823233" y="0"/>
                </a:lnTo>
                <a:lnTo>
                  <a:pt x="9823233" y="4383618"/>
                </a:lnTo>
                <a:lnTo>
                  <a:pt x="0" y="4383618"/>
                </a:lnTo>
                <a:lnTo>
                  <a:pt x="0" y="0"/>
                </a:lnTo>
                <a:close/>
              </a:path>
            </a:pathLst>
          </a:custGeom>
          <a:blipFill>
            <a:blip r:embed="rId2"/>
            <a:stretch>
              <a:fillRect l="0" t="0" r="0" b="0"/>
            </a:stretch>
          </a:blipFill>
        </p:spPr>
      </p:sp>
      <p:sp>
        <p:nvSpPr>
          <p:cNvPr name="Freeform 3" id="3"/>
          <p:cNvSpPr/>
          <p:nvPr/>
        </p:nvSpPr>
        <p:spPr>
          <a:xfrm flipH="false" flipV="false" rot="0">
            <a:off x="7560475" y="5619883"/>
            <a:ext cx="9837202" cy="4346814"/>
          </a:xfrm>
          <a:custGeom>
            <a:avLst/>
            <a:gdLst/>
            <a:ahLst/>
            <a:cxnLst/>
            <a:rect r="r" b="b" t="t" l="l"/>
            <a:pathLst>
              <a:path h="4346814" w="9837202">
                <a:moveTo>
                  <a:pt x="0" y="0"/>
                </a:moveTo>
                <a:lnTo>
                  <a:pt x="9837202" y="0"/>
                </a:lnTo>
                <a:lnTo>
                  <a:pt x="9837202" y="4346814"/>
                </a:lnTo>
                <a:lnTo>
                  <a:pt x="0" y="4346814"/>
                </a:lnTo>
                <a:lnTo>
                  <a:pt x="0" y="0"/>
                </a:lnTo>
                <a:close/>
              </a:path>
            </a:pathLst>
          </a:custGeom>
          <a:blipFill>
            <a:blip r:embed="rId3"/>
            <a:stretch>
              <a:fillRect l="0" t="0" r="0" b="0"/>
            </a:stretch>
          </a:blipFill>
        </p:spPr>
      </p:sp>
      <p:sp>
        <p:nvSpPr>
          <p:cNvPr name="TextBox 4" id="4"/>
          <p:cNvSpPr txBox="true"/>
          <p:nvPr/>
        </p:nvSpPr>
        <p:spPr>
          <a:xfrm rot="0">
            <a:off x="1028700" y="528320"/>
            <a:ext cx="3548777" cy="500380"/>
          </a:xfrm>
          <a:prstGeom prst="rect">
            <a:avLst/>
          </a:prstGeom>
        </p:spPr>
        <p:txBody>
          <a:bodyPr anchor="t" rtlCol="false" tIns="0" lIns="0" bIns="0" rIns="0">
            <a:spAutoFit/>
          </a:bodyPr>
          <a:lstStyle/>
          <a:p>
            <a:pPr algn="ctr">
              <a:lnSpc>
                <a:spcPts val="3919"/>
              </a:lnSpc>
            </a:pPr>
            <a:r>
              <a:rPr lang="en-US" sz="2799" b="true">
                <a:solidFill>
                  <a:srgbClr val="000000"/>
                </a:solidFill>
                <a:latin typeface="Arial Bold"/>
                <a:ea typeface="Arial Bold"/>
                <a:cs typeface="Arial Bold"/>
                <a:sym typeface="Arial Bold"/>
              </a:rPr>
              <a:t>IBM ORCHESTRATE: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00942" y="1630838"/>
            <a:ext cx="15686115" cy="7071449"/>
          </a:xfrm>
          <a:custGeom>
            <a:avLst/>
            <a:gdLst/>
            <a:ahLst/>
            <a:cxnLst/>
            <a:rect r="r" b="b" t="t" l="l"/>
            <a:pathLst>
              <a:path h="7071449" w="15686115">
                <a:moveTo>
                  <a:pt x="0" y="0"/>
                </a:moveTo>
                <a:lnTo>
                  <a:pt x="15686116" y="0"/>
                </a:lnTo>
                <a:lnTo>
                  <a:pt x="15686116" y="7071449"/>
                </a:lnTo>
                <a:lnTo>
                  <a:pt x="0" y="7071449"/>
                </a:lnTo>
                <a:lnTo>
                  <a:pt x="0" y="0"/>
                </a:lnTo>
                <a:close/>
              </a:path>
            </a:pathLst>
          </a:custGeom>
          <a:blipFill>
            <a:blip r:embed="rId2"/>
            <a:stretch>
              <a:fillRect l="0" t="-652" r="0" b="0"/>
            </a:stretch>
          </a:blipFill>
        </p:spPr>
      </p:sp>
      <p:sp>
        <p:nvSpPr>
          <p:cNvPr name="TextBox 3" id="3"/>
          <p:cNvSpPr txBox="true"/>
          <p:nvPr/>
        </p:nvSpPr>
        <p:spPr>
          <a:xfrm rot="0">
            <a:off x="1300942" y="952500"/>
            <a:ext cx="1738789" cy="500380"/>
          </a:xfrm>
          <a:prstGeom prst="rect">
            <a:avLst/>
          </a:prstGeom>
        </p:spPr>
        <p:txBody>
          <a:bodyPr anchor="t" rtlCol="false" tIns="0" lIns="0" bIns="0" rIns="0">
            <a:spAutoFit/>
          </a:bodyPr>
          <a:lstStyle/>
          <a:p>
            <a:pPr algn="ctr">
              <a:lnSpc>
                <a:spcPts val="3919"/>
              </a:lnSpc>
            </a:pPr>
            <a:r>
              <a:rPr lang="en-US" sz="2799" b="true">
                <a:solidFill>
                  <a:srgbClr val="000000"/>
                </a:solidFill>
                <a:latin typeface="Arial Bold"/>
                <a:ea typeface="Arial Bold"/>
                <a:cs typeface="Arial Bold"/>
                <a:sym typeface="Arial Bold"/>
              </a:rPr>
              <a:t>Behavior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01885" y="1655735"/>
            <a:ext cx="13084230" cy="6975530"/>
          </a:xfrm>
          <a:custGeom>
            <a:avLst/>
            <a:gdLst/>
            <a:ahLst/>
            <a:cxnLst/>
            <a:rect r="r" b="b" t="t" l="l"/>
            <a:pathLst>
              <a:path h="6975530" w="13084230">
                <a:moveTo>
                  <a:pt x="0" y="0"/>
                </a:moveTo>
                <a:lnTo>
                  <a:pt x="13084230" y="0"/>
                </a:lnTo>
                <a:lnTo>
                  <a:pt x="13084230" y="6975530"/>
                </a:lnTo>
                <a:lnTo>
                  <a:pt x="0" y="6975530"/>
                </a:lnTo>
                <a:lnTo>
                  <a:pt x="0" y="0"/>
                </a:lnTo>
                <a:close/>
              </a:path>
            </a:pathLst>
          </a:custGeom>
          <a:blipFill>
            <a:blip r:embed="rId2"/>
            <a:stretch>
              <a:fillRect l="0" t="0" r="0" b="0"/>
            </a:stretch>
          </a:blipFill>
        </p:spPr>
      </p:sp>
      <p:sp>
        <p:nvSpPr>
          <p:cNvPr name="TextBox 3" id="3"/>
          <p:cNvSpPr txBox="true"/>
          <p:nvPr/>
        </p:nvSpPr>
        <p:spPr>
          <a:xfrm rot="0">
            <a:off x="2601885" y="740410"/>
            <a:ext cx="1659017" cy="500380"/>
          </a:xfrm>
          <a:prstGeom prst="rect">
            <a:avLst/>
          </a:prstGeom>
        </p:spPr>
        <p:txBody>
          <a:bodyPr anchor="t" rtlCol="false" tIns="0" lIns="0" bIns="0" rIns="0">
            <a:spAutoFit/>
          </a:bodyPr>
          <a:lstStyle/>
          <a:p>
            <a:pPr algn="ctr">
              <a:lnSpc>
                <a:spcPts val="3919"/>
              </a:lnSpc>
            </a:pPr>
            <a:r>
              <a:rPr lang="en-US" sz="2799" b="true">
                <a:solidFill>
                  <a:srgbClr val="000000"/>
                </a:solidFill>
                <a:latin typeface="Arial Bold"/>
                <a:ea typeface="Arial Bold"/>
                <a:cs typeface="Arial Bold"/>
                <a:sym typeface="Arial Bold"/>
              </a:rPr>
              <a:t>IBM BOB:</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1986" y="1202862"/>
            <a:ext cx="8502460" cy="4325626"/>
          </a:xfrm>
          <a:custGeom>
            <a:avLst/>
            <a:gdLst/>
            <a:ahLst/>
            <a:cxnLst/>
            <a:rect r="r" b="b" t="t" l="l"/>
            <a:pathLst>
              <a:path h="4325626" w="8502460">
                <a:moveTo>
                  <a:pt x="0" y="0"/>
                </a:moveTo>
                <a:lnTo>
                  <a:pt x="8502460" y="0"/>
                </a:lnTo>
                <a:lnTo>
                  <a:pt x="8502460" y="4325627"/>
                </a:lnTo>
                <a:lnTo>
                  <a:pt x="0" y="4325627"/>
                </a:lnTo>
                <a:lnTo>
                  <a:pt x="0" y="0"/>
                </a:lnTo>
                <a:close/>
              </a:path>
            </a:pathLst>
          </a:custGeom>
          <a:blipFill>
            <a:blip r:embed="rId2"/>
            <a:stretch>
              <a:fillRect l="0" t="0" r="0" b="0"/>
            </a:stretch>
          </a:blipFill>
        </p:spPr>
      </p:sp>
      <p:sp>
        <p:nvSpPr>
          <p:cNvPr name="Freeform 3" id="3"/>
          <p:cNvSpPr/>
          <p:nvPr/>
        </p:nvSpPr>
        <p:spPr>
          <a:xfrm flipH="false" flipV="false" rot="0">
            <a:off x="9144000" y="5528489"/>
            <a:ext cx="8080095" cy="4110749"/>
          </a:xfrm>
          <a:custGeom>
            <a:avLst/>
            <a:gdLst/>
            <a:ahLst/>
            <a:cxnLst/>
            <a:rect r="r" b="b" t="t" l="l"/>
            <a:pathLst>
              <a:path h="4110749" w="8080095">
                <a:moveTo>
                  <a:pt x="0" y="0"/>
                </a:moveTo>
                <a:lnTo>
                  <a:pt x="8080095" y="0"/>
                </a:lnTo>
                <a:lnTo>
                  <a:pt x="8080095" y="4110748"/>
                </a:lnTo>
                <a:lnTo>
                  <a:pt x="0" y="4110748"/>
                </a:lnTo>
                <a:lnTo>
                  <a:pt x="0" y="0"/>
                </a:lnTo>
                <a:close/>
              </a:path>
            </a:pathLst>
          </a:custGeom>
          <a:blipFill>
            <a:blip r:embed="rId3"/>
            <a:stretch>
              <a:fillRect l="0" t="0" r="0" b="0"/>
            </a:stretch>
          </a:blipFill>
        </p:spPr>
      </p:sp>
      <p:sp>
        <p:nvSpPr>
          <p:cNvPr name="TextBox 4" id="4"/>
          <p:cNvSpPr txBox="true"/>
          <p:nvPr/>
        </p:nvSpPr>
        <p:spPr>
          <a:xfrm rot="0">
            <a:off x="641540" y="493603"/>
            <a:ext cx="1738193" cy="500380"/>
          </a:xfrm>
          <a:prstGeom prst="rect">
            <a:avLst/>
          </a:prstGeom>
        </p:spPr>
        <p:txBody>
          <a:bodyPr anchor="t" rtlCol="false" tIns="0" lIns="0" bIns="0" rIns="0">
            <a:spAutoFit/>
          </a:bodyPr>
          <a:lstStyle/>
          <a:p>
            <a:pPr algn="ctr">
              <a:lnSpc>
                <a:spcPts val="3919"/>
              </a:lnSpc>
            </a:pPr>
            <a:r>
              <a:rPr lang="en-US" sz="2799" b="true">
                <a:solidFill>
                  <a:srgbClr val="000000"/>
                </a:solidFill>
                <a:latin typeface="Arial Bold"/>
                <a:ea typeface="Arial Bold"/>
                <a:cs typeface="Arial Bold"/>
                <a:sym typeface="Arial Bold"/>
              </a:rPr>
              <a:t>WEBSITE: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0196" y="712270"/>
            <a:ext cx="8193804" cy="4163477"/>
          </a:xfrm>
          <a:custGeom>
            <a:avLst/>
            <a:gdLst/>
            <a:ahLst/>
            <a:cxnLst/>
            <a:rect r="r" b="b" t="t" l="l"/>
            <a:pathLst>
              <a:path h="4163477" w="8193804">
                <a:moveTo>
                  <a:pt x="0" y="0"/>
                </a:moveTo>
                <a:lnTo>
                  <a:pt x="8193804" y="0"/>
                </a:lnTo>
                <a:lnTo>
                  <a:pt x="8193804" y="4163476"/>
                </a:lnTo>
                <a:lnTo>
                  <a:pt x="0" y="4163476"/>
                </a:lnTo>
                <a:lnTo>
                  <a:pt x="0" y="0"/>
                </a:lnTo>
                <a:close/>
              </a:path>
            </a:pathLst>
          </a:custGeom>
          <a:blipFill>
            <a:blip r:embed="rId2"/>
            <a:stretch>
              <a:fillRect l="0" t="0" r="0" b="0"/>
            </a:stretch>
          </a:blipFill>
        </p:spPr>
      </p:sp>
      <p:sp>
        <p:nvSpPr>
          <p:cNvPr name="Freeform 3" id="3"/>
          <p:cNvSpPr/>
          <p:nvPr/>
        </p:nvSpPr>
        <p:spPr>
          <a:xfrm flipH="false" flipV="false" rot="0">
            <a:off x="8160039" y="5143500"/>
            <a:ext cx="8767932" cy="4460685"/>
          </a:xfrm>
          <a:custGeom>
            <a:avLst/>
            <a:gdLst/>
            <a:ahLst/>
            <a:cxnLst/>
            <a:rect r="r" b="b" t="t" l="l"/>
            <a:pathLst>
              <a:path h="4460685" w="8767932">
                <a:moveTo>
                  <a:pt x="0" y="0"/>
                </a:moveTo>
                <a:lnTo>
                  <a:pt x="8767932" y="0"/>
                </a:lnTo>
                <a:lnTo>
                  <a:pt x="8767932" y="4460685"/>
                </a:lnTo>
                <a:lnTo>
                  <a:pt x="0" y="4460685"/>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8601565" cy="4354542"/>
          </a:xfrm>
          <a:custGeom>
            <a:avLst/>
            <a:gdLst/>
            <a:ahLst/>
            <a:cxnLst/>
            <a:rect r="r" b="b" t="t" l="l"/>
            <a:pathLst>
              <a:path h="4354542" w="8601565">
                <a:moveTo>
                  <a:pt x="0" y="0"/>
                </a:moveTo>
                <a:lnTo>
                  <a:pt x="8601565" y="0"/>
                </a:lnTo>
                <a:lnTo>
                  <a:pt x="8601565" y="4354542"/>
                </a:lnTo>
                <a:lnTo>
                  <a:pt x="0" y="4354542"/>
                </a:lnTo>
                <a:lnTo>
                  <a:pt x="0" y="0"/>
                </a:lnTo>
                <a:close/>
              </a:path>
            </a:pathLst>
          </a:custGeom>
          <a:blipFill>
            <a:blip r:embed="rId2"/>
            <a:stretch>
              <a:fillRect l="0" t="0" r="0" b="0"/>
            </a:stretch>
          </a:blipFill>
        </p:spPr>
      </p:sp>
      <p:sp>
        <p:nvSpPr>
          <p:cNvPr name="Freeform 3" id="3"/>
          <p:cNvSpPr/>
          <p:nvPr/>
        </p:nvSpPr>
        <p:spPr>
          <a:xfrm flipH="false" flipV="false" rot="0">
            <a:off x="7929410" y="5383242"/>
            <a:ext cx="8995474" cy="4542714"/>
          </a:xfrm>
          <a:custGeom>
            <a:avLst/>
            <a:gdLst/>
            <a:ahLst/>
            <a:cxnLst/>
            <a:rect r="r" b="b" t="t" l="l"/>
            <a:pathLst>
              <a:path h="4542714" w="8995474">
                <a:moveTo>
                  <a:pt x="0" y="0"/>
                </a:moveTo>
                <a:lnTo>
                  <a:pt x="8995475" y="0"/>
                </a:lnTo>
                <a:lnTo>
                  <a:pt x="8995475" y="4542715"/>
                </a:lnTo>
                <a:lnTo>
                  <a:pt x="0" y="4542715"/>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01885" y="1815199"/>
            <a:ext cx="13084230" cy="6656602"/>
          </a:xfrm>
          <a:custGeom>
            <a:avLst/>
            <a:gdLst/>
            <a:ahLst/>
            <a:cxnLst/>
            <a:rect r="r" b="b" t="t" l="l"/>
            <a:pathLst>
              <a:path h="6656602" w="13084230">
                <a:moveTo>
                  <a:pt x="0" y="0"/>
                </a:moveTo>
                <a:lnTo>
                  <a:pt x="13084230" y="0"/>
                </a:lnTo>
                <a:lnTo>
                  <a:pt x="13084230" y="6656602"/>
                </a:lnTo>
                <a:lnTo>
                  <a:pt x="0" y="6656602"/>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95658" y="1009650"/>
            <a:ext cx="10501913" cy="4381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257281" y="1846688"/>
            <a:ext cx="16770125" cy="3667125"/>
          </a:xfrm>
          <a:prstGeom prst="rect">
            <a:avLst/>
          </a:prstGeom>
        </p:spPr>
        <p:txBody>
          <a:bodyPr anchor="t" rtlCol="false" tIns="0" lIns="0" bIns="0" rIns="0">
            <a:spAutoFit/>
          </a:bodyPr>
          <a:lstStyle/>
          <a:p>
            <a:pPr algn="l">
              <a:lnSpc>
                <a:spcPts val="2400"/>
              </a:lnSpc>
            </a:pPr>
          </a:p>
          <a:p>
            <a:pPr algn="l" marL="431801" indent="-215900" lvl="1">
              <a:lnSpc>
                <a:spcPts val="2400"/>
              </a:lnSpc>
              <a:buFont typeface="Arial"/>
              <a:buChar char="•"/>
            </a:pPr>
            <a:r>
              <a:rPr lang="en-US" sz="2000">
                <a:solidFill>
                  <a:srgbClr val="000000"/>
                </a:solidFill>
                <a:latin typeface="Arial"/>
                <a:ea typeface="Arial"/>
                <a:cs typeface="Arial"/>
                <a:sym typeface="Arial"/>
              </a:rPr>
              <a:t>Uses Agentic AI to generate intelligent, personalized, and context-aware travel plans.</a:t>
            </a:r>
          </a:p>
          <a:p>
            <a:pPr algn="l" marL="431801" indent="-215900" lvl="1">
              <a:lnSpc>
                <a:spcPts val="2400"/>
              </a:lnSpc>
              <a:buFont typeface="Arial"/>
              <a:buChar char="•"/>
            </a:pPr>
            <a:r>
              <a:rPr lang="en-US" sz="2000">
                <a:solidFill>
                  <a:srgbClr val="000000"/>
                </a:solidFill>
                <a:latin typeface="Arial"/>
                <a:ea typeface="Arial"/>
                <a:cs typeface="Arial"/>
                <a:sym typeface="Arial"/>
              </a:rPr>
              <a:t>In</a:t>
            </a:r>
            <a:r>
              <a:rPr lang="en-US" sz="2000">
                <a:solidFill>
                  <a:srgbClr val="000000"/>
                </a:solidFill>
                <a:latin typeface="Arial"/>
                <a:ea typeface="Arial"/>
                <a:cs typeface="Arial"/>
                <a:sym typeface="Arial"/>
              </a:rPr>
              <a:t>t</a:t>
            </a:r>
            <a:r>
              <a:rPr lang="en-US" sz="2000">
                <a:solidFill>
                  <a:srgbClr val="000000"/>
                </a:solidFill>
                <a:latin typeface="Arial"/>
                <a:ea typeface="Arial"/>
                <a:cs typeface="Arial"/>
                <a:sym typeface="Arial"/>
              </a:rPr>
              <a:t>e</a:t>
            </a:r>
            <a:r>
              <a:rPr lang="en-US" sz="2000">
                <a:solidFill>
                  <a:srgbClr val="000000"/>
                </a:solidFill>
                <a:latin typeface="Arial"/>
                <a:ea typeface="Arial"/>
                <a:cs typeface="Arial"/>
                <a:sym typeface="Arial"/>
              </a:rPr>
              <a:t>g</a:t>
            </a:r>
            <a:r>
              <a:rPr lang="en-US" sz="2000">
                <a:solidFill>
                  <a:srgbClr val="000000"/>
                </a:solidFill>
                <a:latin typeface="Arial"/>
                <a:ea typeface="Arial"/>
                <a:cs typeface="Arial"/>
                <a:sym typeface="Arial"/>
              </a:rPr>
              <a:t>rates IBM watsonx.ai Granite Foundation Models for natural language understanding and itinerary generation.</a:t>
            </a:r>
          </a:p>
          <a:p>
            <a:pPr algn="l" marL="431801" indent="-215900" lvl="1">
              <a:lnSpc>
                <a:spcPts val="2400"/>
              </a:lnSpc>
              <a:buFont typeface="Arial"/>
              <a:buChar char="•"/>
            </a:pPr>
            <a:r>
              <a:rPr lang="en-US" sz="2000">
                <a:solidFill>
                  <a:srgbClr val="000000"/>
                </a:solidFill>
                <a:latin typeface="Arial"/>
                <a:ea typeface="Arial"/>
                <a:cs typeface="Arial"/>
                <a:sym typeface="Arial"/>
              </a:rPr>
              <a:t>Creates day-wise customized travel itineraries based on destinatio</a:t>
            </a:r>
            <a:r>
              <a:rPr lang="en-US" sz="2000">
                <a:solidFill>
                  <a:srgbClr val="000000"/>
                </a:solidFill>
                <a:latin typeface="Arial"/>
                <a:ea typeface="Arial"/>
                <a:cs typeface="Arial"/>
                <a:sym typeface="Arial"/>
              </a:rPr>
              <a:t>n, b</a:t>
            </a:r>
            <a:r>
              <a:rPr lang="en-US" sz="2000">
                <a:solidFill>
                  <a:srgbClr val="000000"/>
                </a:solidFill>
                <a:latin typeface="Arial"/>
                <a:ea typeface="Arial"/>
                <a:cs typeface="Arial"/>
                <a:sym typeface="Arial"/>
              </a:rPr>
              <a:t>udget, duration, and travel preferences.</a:t>
            </a:r>
          </a:p>
          <a:p>
            <a:pPr algn="l" marL="431801" indent="-215900" lvl="1">
              <a:lnSpc>
                <a:spcPts val="2400"/>
              </a:lnSpc>
              <a:buFont typeface="Arial"/>
              <a:buChar char="•"/>
            </a:pPr>
            <a:r>
              <a:rPr lang="en-US" sz="2000">
                <a:solidFill>
                  <a:srgbClr val="000000"/>
                </a:solidFill>
                <a:latin typeface="Arial"/>
                <a:ea typeface="Arial"/>
                <a:cs typeface="Arial"/>
                <a:sym typeface="Arial"/>
              </a:rPr>
              <a:t>Provides real-time conversational assistance</a:t>
            </a:r>
            <a:r>
              <a:rPr lang="en-US" sz="2000">
                <a:solidFill>
                  <a:srgbClr val="000000"/>
                </a:solidFill>
                <a:latin typeface="Arial"/>
                <a:ea typeface="Arial"/>
                <a:cs typeface="Arial"/>
                <a:sym typeface="Arial"/>
              </a:rPr>
              <a:t> th</a:t>
            </a:r>
            <a:r>
              <a:rPr lang="en-US" sz="2000">
                <a:solidFill>
                  <a:srgbClr val="000000"/>
                </a:solidFill>
                <a:latin typeface="Arial"/>
                <a:ea typeface="Arial"/>
                <a:cs typeface="Arial"/>
                <a:sym typeface="Arial"/>
              </a:rPr>
              <a:t>rough a</a:t>
            </a:r>
            <a:r>
              <a:rPr lang="en-US" sz="2000">
                <a:solidFill>
                  <a:srgbClr val="000000"/>
                </a:solidFill>
                <a:latin typeface="Arial"/>
                <a:ea typeface="Arial"/>
                <a:cs typeface="Arial"/>
                <a:sym typeface="Arial"/>
              </a:rPr>
              <a:t>n</a:t>
            </a:r>
            <a:r>
              <a:rPr lang="en-US" sz="2000">
                <a:solidFill>
                  <a:srgbClr val="000000"/>
                </a:solidFill>
                <a:latin typeface="Arial"/>
                <a:ea typeface="Arial"/>
                <a:cs typeface="Arial"/>
                <a:sym typeface="Arial"/>
              </a:rPr>
              <a:t> AI-powered chat interface.</a:t>
            </a:r>
          </a:p>
          <a:p>
            <a:pPr algn="l" marL="431801" indent="-215900" lvl="1">
              <a:lnSpc>
                <a:spcPts val="2400"/>
              </a:lnSpc>
              <a:buFont typeface="Arial"/>
              <a:buChar char="•"/>
            </a:pPr>
            <a:r>
              <a:rPr lang="en-US" sz="2000">
                <a:solidFill>
                  <a:srgbClr val="000000"/>
                </a:solidFill>
                <a:latin typeface="Arial"/>
                <a:ea typeface="Arial"/>
                <a:cs typeface="Arial"/>
                <a:sym typeface="Arial"/>
              </a:rPr>
              <a:t>Recommends hotels, restaurants, tourist attractions, and transportation in a single plat</a:t>
            </a:r>
            <a:r>
              <a:rPr lang="en-US" sz="2000">
                <a:solidFill>
                  <a:srgbClr val="000000"/>
                </a:solidFill>
                <a:latin typeface="Arial"/>
                <a:ea typeface="Arial"/>
                <a:cs typeface="Arial"/>
                <a:sym typeface="Arial"/>
              </a:rPr>
              <a:t>f</a:t>
            </a:r>
            <a:r>
              <a:rPr lang="en-US" sz="2000">
                <a:solidFill>
                  <a:srgbClr val="000000"/>
                </a:solidFill>
                <a:latin typeface="Arial"/>
                <a:ea typeface="Arial"/>
                <a:cs typeface="Arial"/>
                <a:sym typeface="Arial"/>
              </a:rPr>
              <a:t>o</a:t>
            </a:r>
            <a:r>
              <a:rPr lang="en-US" sz="2000">
                <a:solidFill>
                  <a:srgbClr val="000000"/>
                </a:solidFill>
                <a:latin typeface="Arial"/>
                <a:ea typeface="Arial"/>
                <a:cs typeface="Arial"/>
                <a:sym typeface="Arial"/>
              </a:rPr>
              <a:t>rm.</a:t>
            </a:r>
          </a:p>
          <a:p>
            <a:pPr algn="l" marL="431801" indent="-215900" lvl="1">
              <a:lnSpc>
                <a:spcPts val="2400"/>
              </a:lnSpc>
              <a:buFont typeface="Arial"/>
              <a:buChar char="•"/>
            </a:pPr>
            <a:r>
              <a:rPr lang="en-US" sz="2000">
                <a:solidFill>
                  <a:srgbClr val="000000"/>
                </a:solidFill>
                <a:latin typeface="Arial"/>
                <a:ea typeface="Arial"/>
                <a:cs typeface="Arial"/>
                <a:sym typeface="Arial"/>
              </a:rPr>
              <a:t>I</a:t>
            </a:r>
            <a:r>
              <a:rPr lang="en-US" sz="2000">
                <a:solidFill>
                  <a:srgbClr val="000000"/>
                </a:solidFill>
                <a:latin typeface="Arial"/>
                <a:ea typeface="Arial"/>
                <a:cs typeface="Arial"/>
                <a:sym typeface="Arial"/>
              </a:rPr>
              <a:t>n</a:t>
            </a:r>
            <a:r>
              <a:rPr lang="en-US" sz="2000">
                <a:solidFill>
                  <a:srgbClr val="000000"/>
                </a:solidFill>
                <a:latin typeface="Arial"/>
                <a:ea typeface="Arial"/>
                <a:cs typeface="Arial"/>
                <a:sym typeface="Arial"/>
              </a:rPr>
              <a:t>clude</a:t>
            </a:r>
            <a:r>
              <a:rPr lang="en-US" sz="2000">
                <a:solidFill>
                  <a:srgbClr val="000000"/>
                </a:solidFill>
                <a:latin typeface="Arial"/>
                <a:ea typeface="Arial"/>
                <a:cs typeface="Arial"/>
                <a:sym typeface="Arial"/>
              </a:rPr>
              <a:t>s budget estimation with travel cost</a:t>
            </a:r>
            <a:r>
              <a:rPr lang="en-US" sz="2000">
                <a:solidFill>
                  <a:srgbClr val="000000"/>
                </a:solidFill>
                <a:latin typeface="Arial"/>
                <a:ea typeface="Arial"/>
                <a:cs typeface="Arial"/>
                <a:sym typeface="Arial"/>
              </a:rPr>
              <a:t> breakdown for better tr</a:t>
            </a:r>
            <a:r>
              <a:rPr lang="en-US" sz="2000">
                <a:solidFill>
                  <a:srgbClr val="000000"/>
                </a:solidFill>
                <a:latin typeface="Arial"/>
                <a:ea typeface="Arial"/>
                <a:cs typeface="Arial"/>
                <a:sym typeface="Arial"/>
              </a:rPr>
              <a:t>ip planning.</a:t>
            </a:r>
          </a:p>
          <a:p>
            <a:pPr algn="l" marL="431801" indent="-215900" lvl="1">
              <a:lnSpc>
                <a:spcPts val="2400"/>
              </a:lnSpc>
              <a:buFont typeface="Arial"/>
              <a:buChar char="•"/>
            </a:pPr>
            <a:r>
              <a:rPr lang="en-US" sz="2000">
                <a:solidFill>
                  <a:srgbClr val="000000"/>
                </a:solidFill>
                <a:latin typeface="Arial"/>
                <a:ea typeface="Arial"/>
                <a:cs typeface="Arial"/>
                <a:sym typeface="Arial"/>
              </a:rPr>
              <a:t>Offers weather-aware </a:t>
            </a:r>
            <a:r>
              <a:rPr lang="en-US" sz="2000">
                <a:solidFill>
                  <a:srgbClr val="000000"/>
                </a:solidFill>
                <a:latin typeface="Arial"/>
                <a:ea typeface="Arial"/>
                <a:cs typeface="Arial"/>
                <a:sym typeface="Arial"/>
              </a:rPr>
              <a:t>travel suggestions, </a:t>
            </a:r>
            <a:r>
              <a:rPr lang="en-US" sz="2000">
                <a:solidFill>
                  <a:srgbClr val="000000"/>
                </a:solidFill>
                <a:latin typeface="Arial"/>
                <a:ea typeface="Arial"/>
                <a:cs typeface="Arial"/>
                <a:sym typeface="Arial"/>
              </a:rPr>
              <a:t>packing checklists, and travel safety tips.</a:t>
            </a:r>
          </a:p>
          <a:p>
            <a:pPr algn="l" marL="431801" indent="-215900" lvl="1">
              <a:lnSpc>
                <a:spcPts val="2400"/>
              </a:lnSpc>
              <a:buFont typeface="Arial"/>
              <a:buChar char="•"/>
            </a:pPr>
            <a:r>
              <a:rPr lang="en-US" sz="2000">
                <a:solidFill>
                  <a:srgbClr val="000000"/>
                </a:solidFill>
                <a:latin typeface="Arial"/>
                <a:ea typeface="Arial"/>
                <a:cs typeface="Arial"/>
                <a:sym typeface="Arial"/>
              </a:rPr>
              <a:t>Features a modern, responsive web interface accessible fr</a:t>
            </a:r>
            <a:r>
              <a:rPr lang="en-US" sz="2000">
                <a:solidFill>
                  <a:srgbClr val="000000"/>
                </a:solidFill>
                <a:latin typeface="Arial"/>
                <a:ea typeface="Arial"/>
                <a:cs typeface="Arial"/>
                <a:sym typeface="Arial"/>
              </a:rPr>
              <a:t>o</a:t>
            </a:r>
            <a:r>
              <a:rPr lang="en-US" sz="2000">
                <a:solidFill>
                  <a:srgbClr val="000000"/>
                </a:solidFill>
                <a:latin typeface="Arial"/>
                <a:ea typeface="Arial"/>
                <a:cs typeface="Arial"/>
                <a:sym typeface="Arial"/>
              </a:rPr>
              <a:t>m desktop and mobile devices.</a:t>
            </a:r>
          </a:p>
          <a:p>
            <a:pPr algn="l" marL="431801" indent="-215900" lvl="1">
              <a:lnSpc>
                <a:spcPts val="2400"/>
              </a:lnSpc>
              <a:buFont typeface="Arial"/>
              <a:buChar char="•"/>
            </a:pPr>
            <a:r>
              <a:rPr lang="en-US" sz="2000">
                <a:solidFill>
                  <a:srgbClr val="000000"/>
                </a:solidFill>
                <a:latin typeface="Arial"/>
                <a:ea typeface="Arial"/>
                <a:cs typeface="Arial"/>
                <a:sym typeface="Arial"/>
              </a:rPr>
              <a:t>Securely integrates with IBM Cloud usin</a:t>
            </a:r>
            <a:r>
              <a:rPr lang="en-US" sz="2000">
                <a:solidFill>
                  <a:srgbClr val="000000"/>
                </a:solidFill>
                <a:latin typeface="Arial"/>
                <a:ea typeface="Arial"/>
                <a:cs typeface="Arial"/>
                <a:sym typeface="Arial"/>
              </a:rPr>
              <a:t>g</a:t>
            </a:r>
            <a:r>
              <a:rPr lang="en-US" sz="2000">
                <a:solidFill>
                  <a:srgbClr val="000000"/>
                </a:solidFill>
                <a:latin typeface="Arial"/>
                <a:ea typeface="Arial"/>
                <a:cs typeface="Arial"/>
                <a:sym typeface="Arial"/>
              </a:rPr>
              <a:t> API</a:t>
            </a:r>
            <a:r>
              <a:rPr lang="en-US" sz="2000">
                <a:solidFill>
                  <a:srgbClr val="000000"/>
                </a:solidFill>
                <a:latin typeface="Arial"/>
                <a:ea typeface="Arial"/>
                <a:cs typeface="Arial"/>
                <a:sym typeface="Arial"/>
              </a:rPr>
              <a:t>-b</a:t>
            </a:r>
            <a:r>
              <a:rPr lang="en-US" sz="2000">
                <a:solidFill>
                  <a:srgbClr val="000000"/>
                </a:solidFill>
                <a:latin typeface="Arial"/>
                <a:ea typeface="Arial"/>
                <a:cs typeface="Arial"/>
                <a:sym typeface="Arial"/>
              </a:rPr>
              <a:t>a</a:t>
            </a:r>
            <a:r>
              <a:rPr lang="en-US" sz="2000">
                <a:solidFill>
                  <a:srgbClr val="000000"/>
                </a:solidFill>
                <a:latin typeface="Arial"/>
                <a:ea typeface="Arial"/>
                <a:cs typeface="Arial"/>
                <a:sym typeface="Arial"/>
              </a:rPr>
              <a:t>se</a:t>
            </a:r>
            <a:r>
              <a:rPr lang="en-US" sz="2000">
                <a:solidFill>
                  <a:srgbClr val="000000"/>
                </a:solidFill>
                <a:latin typeface="Arial"/>
                <a:ea typeface="Arial"/>
                <a:cs typeface="Arial"/>
                <a:sym typeface="Arial"/>
              </a:rPr>
              <a:t>d co</a:t>
            </a:r>
            <a:r>
              <a:rPr lang="en-US" sz="2000">
                <a:solidFill>
                  <a:srgbClr val="000000"/>
                </a:solidFill>
                <a:latin typeface="Arial"/>
                <a:ea typeface="Arial"/>
                <a:cs typeface="Arial"/>
                <a:sym typeface="Arial"/>
              </a:rPr>
              <a:t>mmu</a:t>
            </a:r>
            <a:r>
              <a:rPr lang="en-US" sz="2000">
                <a:solidFill>
                  <a:srgbClr val="000000"/>
                </a:solidFill>
                <a:latin typeface="Arial"/>
                <a:ea typeface="Arial"/>
                <a:cs typeface="Arial"/>
                <a:sym typeface="Arial"/>
              </a:rPr>
              <a:t>nication.</a:t>
            </a:r>
          </a:p>
          <a:p>
            <a:pPr algn="l" marL="431801" indent="-215900" lvl="1">
              <a:lnSpc>
                <a:spcPts val="2400"/>
              </a:lnSpc>
              <a:buFont typeface="Arial"/>
              <a:buChar char="•"/>
            </a:pPr>
            <a:r>
              <a:rPr lang="en-US" sz="2000">
                <a:solidFill>
                  <a:srgbClr val="000000"/>
                </a:solidFill>
                <a:latin typeface="Arial"/>
                <a:ea typeface="Arial"/>
                <a:cs typeface="Arial"/>
                <a:sym typeface="Arial"/>
              </a:rPr>
              <a:t>Reduces manual planning effort </a:t>
            </a:r>
            <a:r>
              <a:rPr lang="en-US" sz="2000">
                <a:solidFill>
                  <a:srgbClr val="000000"/>
                </a:solidFill>
                <a:latin typeface="Arial"/>
                <a:ea typeface="Arial"/>
                <a:cs typeface="Arial"/>
                <a:sym typeface="Arial"/>
              </a:rPr>
              <a:t>by</a:t>
            </a:r>
            <a:r>
              <a:rPr lang="en-US" sz="2000">
                <a:solidFill>
                  <a:srgbClr val="000000"/>
                </a:solidFill>
                <a:latin typeface="Arial"/>
                <a:ea typeface="Arial"/>
                <a:cs typeface="Arial"/>
                <a:sym typeface="Arial"/>
              </a:rPr>
              <a:t> providing end-to-end AI-powered travel assistance in one application.</a:t>
            </a:r>
          </a:p>
          <a:p>
            <a:pPr algn="l">
              <a:lnSpc>
                <a:spcPts val="24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1376651"/>
            <a:ext cx="9666742" cy="622939"/>
          </a:xfrm>
          <a:prstGeom prst="rect">
            <a:avLst/>
          </a:prstGeom>
        </p:spPr>
        <p:txBody>
          <a:bodyPr anchor="t" rtlCol="false" tIns="0" lIns="0" bIns="0" rIns="0">
            <a:spAutoFit/>
          </a:bodyPr>
          <a:lstStyle/>
          <a:p>
            <a:pPr algn="l">
              <a:lnSpc>
                <a:spcPts val="5279"/>
              </a:lnSpc>
            </a:pPr>
            <a:r>
              <a:rPr lang="en-US" b="true" sz="2799">
                <a:solidFill>
                  <a:srgbClr val="000000"/>
                </a:solidFill>
                <a:latin typeface="Arial Bold"/>
                <a:ea typeface="Arial Bold"/>
                <a:cs typeface="Arial Bold"/>
                <a:sym typeface="Arial Bold"/>
              </a:rPr>
              <a:t>Git Hub Link</a:t>
            </a:r>
          </a:p>
        </p:txBody>
      </p:sp>
      <p:sp>
        <p:nvSpPr>
          <p:cNvPr name="TextBox 3" id="3"/>
          <p:cNvSpPr txBox="true"/>
          <p:nvPr/>
        </p:nvSpPr>
        <p:spPr>
          <a:xfrm rot="0">
            <a:off x="1828086" y="2339244"/>
            <a:ext cx="13821870" cy="1420255"/>
          </a:xfrm>
          <a:prstGeom prst="rect">
            <a:avLst/>
          </a:prstGeom>
        </p:spPr>
        <p:txBody>
          <a:bodyPr anchor="t" rtlCol="false" tIns="0" lIns="0" bIns="0" rIns="0">
            <a:spAutoFit/>
          </a:bodyPr>
          <a:lstStyle/>
          <a:p>
            <a:pPr algn="l">
              <a:lnSpc>
                <a:spcPts val="3891"/>
              </a:lnSpc>
            </a:pPr>
            <a:r>
              <a:rPr lang="en-US" sz="2000">
                <a:solidFill>
                  <a:srgbClr val="2B3541"/>
                </a:solidFill>
                <a:latin typeface="Times New Roman"/>
                <a:ea typeface="Times New Roman"/>
                <a:cs typeface="Times New Roman"/>
                <a:sym typeface="Times New Roman"/>
              </a:rPr>
              <a:t>·</a:t>
            </a:r>
            <a:r>
              <a:rPr lang="en-US" sz="2000" u="sng">
                <a:solidFill>
                  <a:srgbClr val="2B3541"/>
                </a:solidFill>
                <a:latin typeface="Times New Roman"/>
                <a:ea typeface="Times New Roman"/>
                <a:cs typeface="Times New Roman"/>
                <a:sym typeface="Times New Roman"/>
                <a:hlinkClick r:id="rId3" tooltip="https://github.com/Advait-Karanjkar/AI-Travel-Planner.git"/>
              </a:rPr>
              <a:t>Github URL –https://github.com/Advait-Karanjkar/AI-Travel-Planner.git</a:t>
            </a:r>
          </a:p>
          <a:p>
            <a:pPr algn="l">
              <a:lnSpc>
                <a:spcPts val="3891"/>
              </a:lnSpc>
            </a:pPr>
          </a:p>
          <a:p>
            <a:pPr algn="l">
              <a:lnSpc>
                <a:spcPts val="3891"/>
              </a:lnSpc>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37647" y="828675"/>
            <a:ext cx="9666742" cy="622939"/>
          </a:xfrm>
          <a:prstGeom prst="rect">
            <a:avLst/>
          </a:prstGeom>
        </p:spPr>
        <p:txBody>
          <a:bodyPr anchor="t" rtlCol="false" tIns="0" lIns="0" bIns="0" rIns="0">
            <a:spAutoFit/>
          </a:bodyPr>
          <a:lstStyle/>
          <a:p>
            <a:pPr algn="l">
              <a:lnSpc>
                <a:spcPts val="5279"/>
              </a:lnSpc>
            </a:pPr>
            <a:r>
              <a:rPr lang="en-US" b="true" sz="2799">
                <a:solidFill>
                  <a:srgbClr val="000000"/>
                </a:solidFill>
                <a:latin typeface="Arial Bold"/>
                <a:ea typeface="Arial Bold"/>
                <a:cs typeface="Arial Bold"/>
                <a:sym typeface="Arial Bold"/>
              </a:rPr>
              <a:t>Future Scope </a:t>
            </a:r>
          </a:p>
        </p:txBody>
      </p:sp>
      <p:sp>
        <p:nvSpPr>
          <p:cNvPr name="TextBox 3" id="3"/>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1828086" y="7936516"/>
            <a:ext cx="11202829" cy="784088"/>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5" id="5"/>
          <p:cNvSpPr txBox="true"/>
          <p:nvPr/>
        </p:nvSpPr>
        <p:spPr>
          <a:xfrm rot="0">
            <a:off x="1337647" y="1750694"/>
            <a:ext cx="16097026" cy="5297050"/>
          </a:xfrm>
          <a:prstGeom prst="rect">
            <a:avLst/>
          </a:prstGeom>
        </p:spPr>
        <p:txBody>
          <a:bodyPr anchor="t" rtlCol="false" tIns="0" lIns="0" bIns="0" rIns="0">
            <a:spAutoFit/>
          </a:bodyPr>
          <a:lstStyle/>
          <a:p>
            <a:pPr algn="just">
              <a:lnSpc>
                <a:spcPts val="3890"/>
              </a:lnSpc>
              <a:spcBef>
                <a:spcPct val="0"/>
              </a:spcBef>
            </a:pPr>
            <a:r>
              <a:rPr lang="en-US" b="true" sz="2000">
                <a:solidFill>
                  <a:srgbClr val="000000"/>
                </a:solidFill>
                <a:latin typeface="Arial Bold"/>
                <a:ea typeface="Arial Bold"/>
                <a:cs typeface="Arial Bold"/>
                <a:sym typeface="Arial Bold"/>
              </a:rPr>
              <a:t>Real-Time Travel Information Integration</a:t>
            </a:r>
            <a:r>
              <a:rPr lang="en-US" sz="2000">
                <a:solidFill>
                  <a:srgbClr val="000000"/>
                </a:solidFill>
                <a:latin typeface="Arial"/>
                <a:ea typeface="Arial"/>
                <a:cs typeface="Arial"/>
                <a:sym typeface="Arial"/>
              </a:rPr>
              <a:t>: The system can be enhanced by integrating real-time APIs for weather, flight schedules, traffic updates, and local events. This will help users receive the most accurate and up-to-date travel information while planning their trips.</a:t>
            </a:r>
          </a:p>
          <a:p>
            <a:pPr algn="just">
              <a:lnSpc>
                <a:spcPts val="3891"/>
              </a:lnSpc>
              <a:spcBef>
                <a:spcPct val="0"/>
              </a:spcBef>
            </a:pPr>
          </a:p>
          <a:p>
            <a:pPr algn="just">
              <a:lnSpc>
                <a:spcPts val="3890"/>
              </a:lnSpc>
              <a:spcBef>
                <a:spcPct val="0"/>
              </a:spcBef>
            </a:pPr>
            <a:r>
              <a:rPr lang="en-US" b="true" sz="2000">
                <a:solidFill>
                  <a:srgbClr val="000000"/>
                </a:solidFill>
                <a:latin typeface="Arial Bold"/>
                <a:ea typeface="Arial Bold"/>
                <a:cs typeface="Arial Bold"/>
                <a:sym typeface="Arial Bold"/>
              </a:rPr>
              <a:t>Online Booking Integration</a:t>
            </a:r>
            <a:r>
              <a:rPr lang="en-US" sz="2000">
                <a:solidFill>
                  <a:srgbClr val="000000"/>
                </a:solidFill>
                <a:latin typeface="Arial"/>
                <a:ea typeface="Arial"/>
                <a:cs typeface="Arial"/>
                <a:sym typeface="Arial"/>
              </a:rPr>
              <a:t>: Future versions can include direct integration with hotel, flight, train, bus, and car rental booking platforms. This will allow users to complete their entire travel planning and booking process within a single application.</a:t>
            </a:r>
          </a:p>
          <a:p>
            <a:pPr algn="just">
              <a:lnSpc>
                <a:spcPts val="3891"/>
              </a:lnSpc>
              <a:spcBef>
                <a:spcPct val="0"/>
              </a:spcBef>
            </a:pPr>
          </a:p>
          <a:p>
            <a:pPr algn="just">
              <a:lnSpc>
                <a:spcPts val="3890"/>
              </a:lnSpc>
              <a:spcBef>
                <a:spcPct val="0"/>
              </a:spcBef>
            </a:pPr>
            <a:r>
              <a:rPr lang="en-US" b="true" sz="2000">
                <a:solidFill>
                  <a:srgbClr val="000000"/>
                </a:solidFill>
                <a:latin typeface="Arial Bold"/>
                <a:ea typeface="Arial Bold"/>
                <a:cs typeface="Arial Bold"/>
                <a:sym typeface="Arial Bold"/>
              </a:rPr>
              <a:t>Voice-Based AI Assistant: </a:t>
            </a:r>
            <a:r>
              <a:rPr lang="en-US" sz="2000">
                <a:solidFill>
                  <a:srgbClr val="000000"/>
                </a:solidFill>
                <a:latin typeface="Arial"/>
                <a:ea typeface="Arial"/>
                <a:cs typeface="Arial"/>
                <a:sym typeface="Arial"/>
              </a:rPr>
              <a:t>The application can support voice commands and speech-based interaction using speech recognition and text-to-speech technologies. This will provide a hands-free and more interactive user experience.</a:t>
            </a:r>
          </a:p>
          <a:p>
            <a:pPr algn="just">
              <a:lnSpc>
                <a:spcPts val="3891"/>
              </a:lnSpc>
              <a:spcBef>
                <a:spcPct val="0"/>
              </a:spcBef>
            </a:pPr>
          </a:p>
          <a:p>
            <a:pPr algn="just">
              <a:lnSpc>
                <a:spcPts val="3891"/>
              </a:lnSpc>
              <a:spcBef>
                <a:spcPct val="0"/>
              </a:spcBef>
            </a:pPr>
            <a:r>
              <a:rPr lang="en-US" b="true" sz="2000">
                <a:solidFill>
                  <a:srgbClr val="000000"/>
                </a:solidFill>
                <a:latin typeface="Arial Bold"/>
                <a:ea typeface="Arial Bold"/>
                <a:cs typeface="Arial Bold"/>
                <a:sym typeface="Arial Bold"/>
              </a:rPr>
              <a:t>Mobile Application Development:</a:t>
            </a:r>
            <a:r>
              <a:rPr lang="en-US" sz="2000">
                <a:solidFill>
                  <a:srgbClr val="000000"/>
                </a:solidFill>
                <a:latin typeface="Arial"/>
                <a:ea typeface="Arial"/>
                <a:cs typeface="Arial"/>
                <a:sym typeface="Arial"/>
              </a:rPr>
              <a:t> A dedicated Android and iOS application can be developed to provide users with travel planning, itinerary access, notifications, and AI assistance while traveling.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09255" y="1281027"/>
            <a:ext cx="5487630" cy="4126276"/>
          </a:xfrm>
          <a:custGeom>
            <a:avLst/>
            <a:gdLst/>
            <a:ahLst/>
            <a:cxnLst/>
            <a:rect r="r" b="b" t="t" l="l"/>
            <a:pathLst>
              <a:path h="4126276" w="5487630">
                <a:moveTo>
                  <a:pt x="0" y="0"/>
                </a:moveTo>
                <a:lnTo>
                  <a:pt x="5487631" y="0"/>
                </a:lnTo>
                <a:lnTo>
                  <a:pt x="5487631" y="4126276"/>
                </a:lnTo>
                <a:lnTo>
                  <a:pt x="0" y="4126276"/>
                </a:lnTo>
                <a:lnTo>
                  <a:pt x="0" y="0"/>
                </a:lnTo>
                <a:close/>
              </a:path>
            </a:pathLst>
          </a:custGeom>
          <a:blipFill>
            <a:blip r:embed="rId3"/>
            <a:stretch>
              <a:fillRect l="0" t="0" r="0" b="0"/>
            </a:stretch>
          </a:blipFill>
        </p:spPr>
      </p:sp>
      <p:sp>
        <p:nvSpPr>
          <p:cNvPr name="Freeform 3" id="3"/>
          <p:cNvSpPr/>
          <p:nvPr/>
        </p:nvSpPr>
        <p:spPr>
          <a:xfrm flipH="false" flipV="false" rot="0">
            <a:off x="9781405" y="1281027"/>
            <a:ext cx="5574657" cy="4126276"/>
          </a:xfrm>
          <a:custGeom>
            <a:avLst/>
            <a:gdLst/>
            <a:ahLst/>
            <a:cxnLst/>
            <a:rect r="r" b="b" t="t" l="l"/>
            <a:pathLst>
              <a:path h="4126276" w="5574657">
                <a:moveTo>
                  <a:pt x="0" y="0"/>
                </a:moveTo>
                <a:lnTo>
                  <a:pt x="5574656" y="0"/>
                </a:lnTo>
                <a:lnTo>
                  <a:pt x="5574656" y="4126276"/>
                </a:lnTo>
                <a:lnTo>
                  <a:pt x="0" y="4126276"/>
                </a:lnTo>
                <a:lnTo>
                  <a:pt x="0" y="0"/>
                </a:lnTo>
                <a:close/>
              </a:path>
            </a:pathLst>
          </a:custGeom>
          <a:blipFill>
            <a:blip r:embed="rId4"/>
            <a:stretch>
              <a:fillRect l="0" t="0" r="0" b="0"/>
            </a:stretch>
          </a:blipFill>
        </p:spPr>
      </p:sp>
      <p:sp>
        <p:nvSpPr>
          <p:cNvPr name="Freeform 4" id="4"/>
          <p:cNvSpPr/>
          <p:nvPr/>
        </p:nvSpPr>
        <p:spPr>
          <a:xfrm flipH="false" flipV="false" rot="0">
            <a:off x="1809255" y="5737352"/>
            <a:ext cx="6389241" cy="3979781"/>
          </a:xfrm>
          <a:custGeom>
            <a:avLst/>
            <a:gdLst/>
            <a:ahLst/>
            <a:cxnLst/>
            <a:rect r="r" b="b" t="t" l="l"/>
            <a:pathLst>
              <a:path h="3979781" w="6389241">
                <a:moveTo>
                  <a:pt x="0" y="0"/>
                </a:moveTo>
                <a:lnTo>
                  <a:pt x="6389241" y="0"/>
                </a:lnTo>
                <a:lnTo>
                  <a:pt x="6389241" y="3979781"/>
                </a:lnTo>
                <a:lnTo>
                  <a:pt x="0" y="3979781"/>
                </a:lnTo>
                <a:lnTo>
                  <a:pt x="0" y="0"/>
                </a:lnTo>
                <a:close/>
              </a:path>
            </a:pathLst>
          </a:custGeom>
          <a:blipFill>
            <a:blip r:embed="rId5"/>
            <a:stretch>
              <a:fillRect l="0" t="0" r="0" b="0"/>
            </a:stretch>
          </a:blipFill>
        </p:spPr>
      </p:sp>
      <p:sp>
        <p:nvSpPr>
          <p:cNvPr name="Freeform 5" id="5"/>
          <p:cNvSpPr/>
          <p:nvPr/>
        </p:nvSpPr>
        <p:spPr>
          <a:xfrm flipH="false" flipV="false" rot="0">
            <a:off x="9781405" y="5564699"/>
            <a:ext cx="5574657" cy="4152434"/>
          </a:xfrm>
          <a:custGeom>
            <a:avLst/>
            <a:gdLst/>
            <a:ahLst/>
            <a:cxnLst/>
            <a:rect r="r" b="b" t="t" l="l"/>
            <a:pathLst>
              <a:path h="4152434" w="5574657">
                <a:moveTo>
                  <a:pt x="0" y="0"/>
                </a:moveTo>
                <a:lnTo>
                  <a:pt x="5574656" y="0"/>
                </a:lnTo>
                <a:lnTo>
                  <a:pt x="5574656" y="4152434"/>
                </a:lnTo>
                <a:lnTo>
                  <a:pt x="0" y="4152434"/>
                </a:lnTo>
                <a:lnTo>
                  <a:pt x="0" y="0"/>
                </a:lnTo>
                <a:close/>
              </a:path>
            </a:pathLst>
          </a:custGeom>
          <a:blipFill>
            <a:blip r:embed="rId6"/>
            <a:stretch>
              <a:fillRect l="0" t="0" r="0" b="0"/>
            </a:stretch>
          </a:blipFill>
        </p:spPr>
      </p:sp>
      <p:sp>
        <p:nvSpPr>
          <p:cNvPr name="TextBox 6" id="6"/>
          <p:cNvSpPr txBox="true"/>
          <p:nvPr/>
        </p:nvSpPr>
        <p:spPr>
          <a:xfrm rot="0">
            <a:off x="583349" y="337718"/>
            <a:ext cx="8961149" cy="8572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Certificates Earned:</a:t>
            </a:r>
          </a:p>
          <a:p>
            <a:pPr algn="ctr">
              <a:lnSpc>
                <a:spcPts val="335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51552" y="1724118"/>
            <a:ext cx="11184895" cy="6838765"/>
          </a:xfrm>
          <a:custGeom>
            <a:avLst/>
            <a:gdLst/>
            <a:ahLst/>
            <a:cxnLst/>
            <a:rect r="r" b="b" t="t" l="l"/>
            <a:pathLst>
              <a:path h="6838765" w="11184895">
                <a:moveTo>
                  <a:pt x="0" y="0"/>
                </a:moveTo>
                <a:lnTo>
                  <a:pt x="11184896" y="0"/>
                </a:lnTo>
                <a:lnTo>
                  <a:pt x="11184896" y="6838764"/>
                </a:lnTo>
                <a:lnTo>
                  <a:pt x="0" y="6838764"/>
                </a:lnTo>
                <a:lnTo>
                  <a:pt x="0" y="0"/>
                </a:lnTo>
                <a:close/>
              </a:path>
            </a:pathLst>
          </a:custGeom>
          <a:blipFill>
            <a:blip r:embed="rId3"/>
            <a:stretch>
              <a:fillRect l="0" t="0" r="0" b="0"/>
            </a:stretch>
          </a:blipFill>
        </p:spPr>
      </p:sp>
      <p:sp>
        <p:nvSpPr>
          <p:cNvPr name="TextBox 3" id="3"/>
          <p:cNvSpPr txBox="true"/>
          <p:nvPr/>
        </p:nvSpPr>
        <p:spPr>
          <a:xfrm rot="0">
            <a:off x="356473" y="366236"/>
            <a:ext cx="8961149" cy="8572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Certificates Earned:</a:t>
            </a:r>
            <a:r>
              <a:rPr lang="en-US" sz="2799">
                <a:solidFill>
                  <a:srgbClr val="000000"/>
                </a:solidFill>
                <a:latin typeface="Arial"/>
                <a:ea typeface="Arial"/>
                <a:cs typeface="Arial"/>
                <a:sym typeface="Arial"/>
              </a:rPr>
              <a:t>​</a:t>
            </a:r>
          </a:p>
          <a:p>
            <a:pPr algn="ctr">
              <a:lnSpc>
                <a:spcPts val="335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16"/>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DAHPFGwGqrs</dc:identifier>
  <dcterms:modified xsi:type="dcterms:W3CDTF">2011-08-01T06:04:30Z</dcterms:modified>
  <cp:revision>1</cp:revision>
  <dc:title>AICTE_Project Submission Template for EduentFoundation_IBMUniversityEngagement.pptx</dc:title>
</cp:coreProperties>
</file>